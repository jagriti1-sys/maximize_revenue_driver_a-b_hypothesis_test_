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sldIdLst>
    <p:sldId id="256" r:id="rId2"/>
    <p:sldId id="257" r:id="rId3"/>
    <p:sldId id="258" r:id="rId4"/>
    <p:sldId id="260" r:id="rId5"/>
    <p:sldId id="259" r:id="rId6"/>
    <p:sldId id="261" r:id="rId7"/>
    <p:sldId id="262" r:id="rId8"/>
    <p:sldId id="263" r:id="rId9"/>
    <p:sldId id="265" r:id="rId10"/>
    <p:sldId id="266" r:id="rId11"/>
    <p:sldId id="274" r:id="rId12"/>
    <p:sldId id="264" r:id="rId13"/>
    <p:sldId id="275" r:id="rId14"/>
    <p:sldId id="269" r:id="rId15"/>
    <p:sldId id="268"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568"/>
    <p:restoredTop sz="94718"/>
  </p:normalViewPr>
  <p:slideViewPr>
    <p:cSldViewPr snapToGrid="0">
      <p:cViewPr varScale="1">
        <p:scale>
          <a:sx n="101" d="100"/>
          <a:sy n="101" d="100"/>
        </p:scale>
        <p:origin x="200"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DCF84E-A5C9-470E-AF56-A1416E31832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F619C72A-D40A-416B-BF22-009CF211D852}">
      <dgm:prSet custT="1"/>
      <dgm:spPr/>
      <dgm:t>
        <a:bodyPr/>
        <a:lstStyle/>
        <a:p>
          <a:r>
            <a:rPr lang="en-US" sz="2000" dirty="0">
              <a:latin typeface="Arial" panose="020B0604020202020204" pitchFamily="34" charset="0"/>
              <a:cs typeface="Arial" panose="020B0604020202020204" pitchFamily="34" charset="0"/>
            </a:rPr>
            <a:t>Problem Statement</a:t>
          </a:r>
        </a:p>
      </dgm:t>
    </dgm:pt>
    <dgm:pt modelId="{5B1EB512-C21D-4EEA-85EC-40502581DF8F}" type="parTrans" cxnId="{C888CE84-A757-476A-98E0-4ACD718303D0}">
      <dgm:prSet/>
      <dgm:spPr/>
      <dgm:t>
        <a:bodyPr/>
        <a:lstStyle/>
        <a:p>
          <a:endParaRPr lang="en-US"/>
        </a:p>
      </dgm:t>
    </dgm:pt>
    <dgm:pt modelId="{C7536D24-D6AA-408B-A884-53E3EA195CAC}" type="sibTrans" cxnId="{C888CE84-A757-476A-98E0-4ACD718303D0}">
      <dgm:prSet/>
      <dgm:spPr/>
      <dgm:t>
        <a:bodyPr/>
        <a:lstStyle/>
        <a:p>
          <a:endParaRPr lang="en-US"/>
        </a:p>
      </dgm:t>
    </dgm:pt>
    <dgm:pt modelId="{F622FA45-E9B8-40BD-B41F-A4EEC47D42DB}">
      <dgm:prSet custT="1"/>
      <dgm:spPr/>
      <dgm:t>
        <a:bodyPr/>
        <a:lstStyle/>
        <a:p>
          <a:r>
            <a:rPr lang="en-US" sz="2000" dirty="0">
              <a:latin typeface="Arial" panose="020B0604020202020204" pitchFamily="34" charset="0"/>
              <a:cs typeface="Arial" panose="020B0604020202020204" pitchFamily="34" charset="0"/>
            </a:rPr>
            <a:t>Research Question </a:t>
          </a:r>
        </a:p>
      </dgm:t>
    </dgm:pt>
    <dgm:pt modelId="{A41C9949-B500-4503-B455-BC04E5FFE679}" type="parTrans" cxnId="{FF4B7C68-03D0-4C1F-993E-55A2ECBA6FE8}">
      <dgm:prSet/>
      <dgm:spPr/>
      <dgm:t>
        <a:bodyPr/>
        <a:lstStyle/>
        <a:p>
          <a:endParaRPr lang="en-US"/>
        </a:p>
      </dgm:t>
    </dgm:pt>
    <dgm:pt modelId="{5F3AF27F-C2EF-46CB-AEBE-FEB6DE0968D8}" type="sibTrans" cxnId="{FF4B7C68-03D0-4C1F-993E-55A2ECBA6FE8}">
      <dgm:prSet/>
      <dgm:spPr/>
      <dgm:t>
        <a:bodyPr/>
        <a:lstStyle/>
        <a:p>
          <a:endParaRPr lang="en-US"/>
        </a:p>
      </dgm:t>
    </dgm:pt>
    <dgm:pt modelId="{50943CB5-F7F8-40A0-B296-7F5F1009FD62}">
      <dgm:prSet custT="1"/>
      <dgm:spPr/>
      <dgm:t>
        <a:bodyPr/>
        <a:lstStyle/>
        <a:p>
          <a:r>
            <a:rPr lang="en-US" sz="2000" dirty="0">
              <a:latin typeface="Arial" panose="020B0604020202020204" pitchFamily="34" charset="0"/>
              <a:cs typeface="Arial" panose="020B0604020202020204" pitchFamily="34" charset="0"/>
            </a:rPr>
            <a:t>Data Overview</a:t>
          </a:r>
        </a:p>
      </dgm:t>
    </dgm:pt>
    <dgm:pt modelId="{C944C1E6-B174-4642-B7DB-52E930C3DA1D}" type="parTrans" cxnId="{423A9A94-2C0A-45A9-A93F-6CFEAAB13DE7}">
      <dgm:prSet/>
      <dgm:spPr/>
      <dgm:t>
        <a:bodyPr/>
        <a:lstStyle/>
        <a:p>
          <a:endParaRPr lang="en-US"/>
        </a:p>
      </dgm:t>
    </dgm:pt>
    <dgm:pt modelId="{9433259D-08A5-4276-8FD9-37C86F0D94D6}" type="sibTrans" cxnId="{423A9A94-2C0A-45A9-A93F-6CFEAAB13DE7}">
      <dgm:prSet/>
      <dgm:spPr/>
      <dgm:t>
        <a:bodyPr/>
        <a:lstStyle/>
        <a:p>
          <a:endParaRPr lang="en-US"/>
        </a:p>
      </dgm:t>
    </dgm:pt>
    <dgm:pt modelId="{9016EF15-6A11-4AA3-B96F-76798C5B588E}">
      <dgm:prSet custT="1"/>
      <dgm:spPr/>
      <dgm:t>
        <a:bodyPr/>
        <a:lstStyle/>
        <a:p>
          <a:r>
            <a:rPr lang="en-US" sz="2000" dirty="0">
              <a:latin typeface="Arial" panose="020B0604020202020204" pitchFamily="34" charset="0"/>
              <a:cs typeface="Arial" panose="020B0604020202020204" pitchFamily="34" charset="0"/>
            </a:rPr>
            <a:t>Methodology </a:t>
          </a:r>
        </a:p>
      </dgm:t>
    </dgm:pt>
    <dgm:pt modelId="{CA8E3327-CB22-417F-8469-65781E4A4D25}" type="parTrans" cxnId="{102A3F58-61F5-4346-A720-8E30FD992AD6}">
      <dgm:prSet/>
      <dgm:spPr/>
      <dgm:t>
        <a:bodyPr/>
        <a:lstStyle/>
        <a:p>
          <a:endParaRPr lang="en-US"/>
        </a:p>
      </dgm:t>
    </dgm:pt>
    <dgm:pt modelId="{B2C91782-7C5D-4885-8686-96D34FFC4C6F}" type="sibTrans" cxnId="{102A3F58-61F5-4346-A720-8E30FD992AD6}">
      <dgm:prSet/>
      <dgm:spPr/>
      <dgm:t>
        <a:bodyPr/>
        <a:lstStyle/>
        <a:p>
          <a:endParaRPr lang="en-US"/>
        </a:p>
      </dgm:t>
    </dgm:pt>
    <dgm:pt modelId="{E35FAE07-C173-4343-A082-B0AA911DC538}">
      <dgm:prSet custT="1"/>
      <dgm:spPr/>
      <dgm:t>
        <a:bodyPr/>
        <a:lstStyle/>
        <a:p>
          <a:r>
            <a:rPr lang="en-US" sz="2000" dirty="0">
              <a:latin typeface="Arial" panose="020B0604020202020204" pitchFamily="34" charset="0"/>
              <a:cs typeface="Arial" panose="020B0604020202020204" pitchFamily="34" charset="0"/>
            </a:rPr>
            <a:t>Analysis and Findings </a:t>
          </a:r>
        </a:p>
      </dgm:t>
    </dgm:pt>
    <dgm:pt modelId="{973727A7-8E27-47A8-8507-8D11E9820FBF}" type="parTrans" cxnId="{2D36B7E8-A21F-4768-9572-468B96768B4D}">
      <dgm:prSet/>
      <dgm:spPr/>
      <dgm:t>
        <a:bodyPr/>
        <a:lstStyle/>
        <a:p>
          <a:endParaRPr lang="en-US"/>
        </a:p>
      </dgm:t>
    </dgm:pt>
    <dgm:pt modelId="{E71F9D25-9510-40DE-8957-AAA5DFE05BB0}" type="sibTrans" cxnId="{2D36B7E8-A21F-4768-9572-468B96768B4D}">
      <dgm:prSet/>
      <dgm:spPr/>
      <dgm:t>
        <a:bodyPr/>
        <a:lstStyle/>
        <a:p>
          <a:endParaRPr lang="en-US"/>
        </a:p>
      </dgm:t>
    </dgm:pt>
    <dgm:pt modelId="{63F873C2-B5AE-4130-A69F-2628F44EDAE1}">
      <dgm:prSet custT="1"/>
      <dgm:spPr/>
      <dgm:t>
        <a:bodyPr/>
        <a:lstStyle/>
        <a:p>
          <a:r>
            <a:rPr lang="en-US" sz="2000" dirty="0">
              <a:latin typeface="Arial" panose="020B0604020202020204" pitchFamily="34" charset="0"/>
              <a:cs typeface="Arial" panose="020B0604020202020204" pitchFamily="34" charset="0"/>
            </a:rPr>
            <a:t>Hypothesis Testing </a:t>
          </a:r>
        </a:p>
      </dgm:t>
    </dgm:pt>
    <dgm:pt modelId="{5B3304FD-E00D-4552-90D9-5A9CB092F705}" type="parTrans" cxnId="{BE137101-178C-40AF-A16E-82F1925A6B57}">
      <dgm:prSet/>
      <dgm:spPr/>
      <dgm:t>
        <a:bodyPr/>
        <a:lstStyle/>
        <a:p>
          <a:endParaRPr lang="en-US"/>
        </a:p>
      </dgm:t>
    </dgm:pt>
    <dgm:pt modelId="{26F0D539-1C8F-4054-B237-E67FE86182DA}" type="sibTrans" cxnId="{BE137101-178C-40AF-A16E-82F1925A6B57}">
      <dgm:prSet/>
      <dgm:spPr/>
      <dgm:t>
        <a:bodyPr/>
        <a:lstStyle/>
        <a:p>
          <a:endParaRPr lang="en-US"/>
        </a:p>
      </dgm:t>
    </dgm:pt>
    <dgm:pt modelId="{330E0CB7-A7CB-4F51-94A8-9D5C3A6205A1}">
      <dgm:prSet custT="1"/>
      <dgm:spPr/>
      <dgm:t>
        <a:bodyPr/>
        <a:lstStyle/>
        <a:p>
          <a:r>
            <a:rPr lang="en-US" sz="2000" dirty="0">
              <a:latin typeface="Arial" panose="020B0604020202020204" pitchFamily="34" charset="0"/>
              <a:cs typeface="Arial" panose="020B0604020202020204" pitchFamily="34" charset="0"/>
            </a:rPr>
            <a:t>Recommendations </a:t>
          </a:r>
        </a:p>
      </dgm:t>
    </dgm:pt>
    <dgm:pt modelId="{6E22101A-108B-4AF3-AE23-4A64D064112C}" type="parTrans" cxnId="{914255B0-3125-44C4-B573-870FA99ACF5D}">
      <dgm:prSet/>
      <dgm:spPr/>
      <dgm:t>
        <a:bodyPr/>
        <a:lstStyle/>
        <a:p>
          <a:endParaRPr lang="en-US"/>
        </a:p>
      </dgm:t>
    </dgm:pt>
    <dgm:pt modelId="{71D47E40-CE39-482B-8B26-2CC5138A5385}" type="sibTrans" cxnId="{914255B0-3125-44C4-B573-870FA99ACF5D}">
      <dgm:prSet/>
      <dgm:spPr/>
      <dgm:t>
        <a:bodyPr/>
        <a:lstStyle/>
        <a:p>
          <a:endParaRPr lang="en-US"/>
        </a:p>
      </dgm:t>
    </dgm:pt>
    <dgm:pt modelId="{ED20E6B1-A8B6-5E4B-B922-4EF14F7048C3}" type="pres">
      <dgm:prSet presAssocID="{56DCF84E-A5C9-470E-AF56-A1416E31832C}" presName="vert0" presStyleCnt="0">
        <dgm:presLayoutVars>
          <dgm:dir/>
          <dgm:animOne val="branch"/>
          <dgm:animLvl val="lvl"/>
        </dgm:presLayoutVars>
      </dgm:prSet>
      <dgm:spPr/>
    </dgm:pt>
    <dgm:pt modelId="{99D224AC-14A8-6141-85A4-FA62AB8EDC1D}" type="pres">
      <dgm:prSet presAssocID="{F619C72A-D40A-416B-BF22-009CF211D852}" presName="thickLine" presStyleLbl="alignNode1" presStyleIdx="0" presStyleCnt="7"/>
      <dgm:spPr/>
    </dgm:pt>
    <dgm:pt modelId="{623C04F7-0A17-374C-8A31-7E539E7A96C8}" type="pres">
      <dgm:prSet presAssocID="{F619C72A-D40A-416B-BF22-009CF211D852}" presName="horz1" presStyleCnt="0"/>
      <dgm:spPr/>
    </dgm:pt>
    <dgm:pt modelId="{9AB92615-6B5A-3E45-9414-346B947B9411}" type="pres">
      <dgm:prSet presAssocID="{F619C72A-D40A-416B-BF22-009CF211D852}" presName="tx1" presStyleLbl="revTx" presStyleIdx="0" presStyleCnt="7"/>
      <dgm:spPr/>
    </dgm:pt>
    <dgm:pt modelId="{C9EFB037-9504-CE45-B7C4-03A7B221C34F}" type="pres">
      <dgm:prSet presAssocID="{F619C72A-D40A-416B-BF22-009CF211D852}" presName="vert1" presStyleCnt="0"/>
      <dgm:spPr/>
    </dgm:pt>
    <dgm:pt modelId="{A1DA02CA-6AA6-1641-90A3-99713E67181D}" type="pres">
      <dgm:prSet presAssocID="{F622FA45-E9B8-40BD-B41F-A4EEC47D42DB}" presName="thickLine" presStyleLbl="alignNode1" presStyleIdx="1" presStyleCnt="7"/>
      <dgm:spPr/>
    </dgm:pt>
    <dgm:pt modelId="{1F6B0757-27DC-5149-ADA0-410E3C3227B4}" type="pres">
      <dgm:prSet presAssocID="{F622FA45-E9B8-40BD-B41F-A4EEC47D42DB}" presName="horz1" presStyleCnt="0"/>
      <dgm:spPr/>
    </dgm:pt>
    <dgm:pt modelId="{4AEFEC45-BC36-9644-905B-3DDE6A7AC911}" type="pres">
      <dgm:prSet presAssocID="{F622FA45-E9B8-40BD-B41F-A4EEC47D42DB}" presName="tx1" presStyleLbl="revTx" presStyleIdx="1" presStyleCnt="7"/>
      <dgm:spPr/>
    </dgm:pt>
    <dgm:pt modelId="{C37227B5-A0C8-214E-B64A-584A5C383519}" type="pres">
      <dgm:prSet presAssocID="{F622FA45-E9B8-40BD-B41F-A4EEC47D42DB}" presName="vert1" presStyleCnt="0"/>
      <dgm:spPr/>
    </dgm:pt>
    <dgm:pt modelId="{772C2CF6-0FED-1845-A9D0-33A308F8360D}" type="pres">
      <dgm:prSet presAssocID="{50943CB5-F7F8-40A0-B296-7F5F1009FD62}" presName="thickLine" presStyleLbl="alignNode1" presStyleIdx="2" presStyleCnt="7"/>
      <dgm:spPr/>
    </dgm:pt>
    <dgm:pt modelId="{1D6EB893-E9DA-CB43-9F3B-5CEC50563E9F}" type="pres">
      <dgm:prSet presAssocID="{50943CB5-F7F8-40A0-B296-7F5F1009FD62}" presName="horz1" presStyleCnt="0"/>
      <dgm:spPr/>
    </dgm:pt>
    <dgm:pt modelId="{0DCD26EE-847E-0640-9D9C-A39C4238B484}" type="pres">
      <dgm:prSet presAssocID="{50943CB5-F7F8-40A0-B296-7F5F1009FD62}" presName="tx1" presStyleLbl="revTx" presStyleIdx="2" presStyleCnt="7"/>
      <dgm:spPr/>
    </dgm:pt>
    <dgm:pt modelId="{ED7AD0AA-1B49-D344-8980-6A195E768620}" type="pres">
      <dgm:prSet presAssocID="{50943CB5-F7F8-40A0-B296-7F5F1009FD62}" presName="vert1" presStyleCnt="0"/>
      <dgm:spPr/>
    </dgm:pt>
    <dgm:pt modelId="{C378C931-B06E-3240-AE20-195553DFABF0}" type="pres">
      <dgm:prSet presAssocID="{9016EF15-6A11-4AA3-B96F-76798C5B588E}" presName="thickLine" presStyleLbl="alignNode1" presStyleIdx="3" presStyleCnt="7"/>
      <dgm:spPr/>
    </dgm:pt>
    <dgm:pt modelId="{E08ABA6E-2A4E-8C44-B276-E28EB5815A96}" type="pres">
      <dgm:prSet presAssocID="{9016EF15-6A11-4AA3-B96F-76798C5B588E}" presName="horz1" presStyleCnt="0"/>
      <dgm:spPr/>
    </dgm:pt>
    <dgm:pt modelId="{49BE1713-44F9-D146-A79F-5058BC9E59F8}" type="pres">
      <dgm:prSet presAssocID="{9016EF15-6A11-4AA3-B96F-76798C5B588E}" presName="tx1" presStyleLbl="revTx" presStyleIdx="3" presStyleCnt="7"/>
      <dgm:spPr/>
    </dgm:pt>
    <dgm:pt modelId="{0EDAD982-9658-7744-B373-4AC1045F4877}" type="pres">
      <dgm:prSet presAssocID="{9016EF15-6A11-4AA3-B96F-76798C5B588E}" presName="vert1" presStyleCnt="0"/>
      <dgm:spPr/>
    </dgm:pt>
    <dgm:pt modelId="{A3FB94E8-940E-A74D-A102-6A1172571521}" type="pres">
      <dgm:prSet presAssocID="{E35FAE07-C173-4343-A082-B0AA911DC538}" presName="thickLine" presStyleLbl="alignNode1" presStyleIdx="4" presStyleCnt="7"/>
      <dgm:spPr/>
    </dgm:pt>
    <dgm:pt modelId="{533E2CB0-D81E-6349-A637-94E73B09FC0D}" type="pres">
      <dgm:prSet presAssocID="{E35FAE07-C173-4343-A082-B0AA911DC538}" presName="horz1" presStyleCnt="0"/>
      <dgm:spPr/>
    </dgm:pt>
    <dgm:pt modelId="{DDD82C76-BBC4-1545-8BB2-DFBEBFC15E65}" type="pres">
      <dgm:prSet presAssocID="{E35FAE07-C173-4343-A082-B0AA911DC538}" presName="tx1" presStyleLbl="revTx" presStyleIdx="4" presStyleCnt="7"/>
      <dgm:spPr/>
    </dgm:pt>
    <dgm:pt modelId="{ECA0A45F-6E78-CA45-94FD-74533478AD95}" type="pres">
      <dgm:prSet presAssocID="{E35FAE07-C173-4343-A082-B0AA911DC538}" presName="vert1" presStyleCnt="0"/>
      <dgm:spPr/>
    </dgm:pt>
    <dgm:pt modelId="{010C065D-D2CE-5E47-AF0E-9B0869CC2DAB}" type="pres">
      <dgm:prSet presAssocID="{63F873C2-B5AE-4130-A69F-2628F44EDAE1}" presName="thickLine" presStyleLbl="alignNode1" presStyleIdx="5" presStyleCnt="7"/>
      <dgm:spPr/>
    </dgm:pt>
    <dgm:pt modelId="{5FA3DC13-B9B8-BF48-BA60-D1EDAFB0A447}" type="pres">
      <dgm:prSet presAssocID="{63F873C2-B5AE-4130-A69F-2628F44EDAE1}" presName="horz1" presStyleCnt="0"/>
      <dgm:spPr/>
    </dgm:pt>
    <dgm:pt modelId="{74FE1C8D-84B7-AE43-8177-46011A39F484}" type="pres">
      <dgm:prSet presAssocID="{63F873C2-B5AE-4130-A69F-2628F44EDAE1}" presName="tx1" presStyleLbl="revTx" presStyleIdx="5" presStyleCnt="7"/>
      <dgm:spPr/>
    </dgm:pt>
    <dgm:pt modelId="{5BE035E2-709C-2442-815A-DA5EBD21F1DD}" type="pres">
      <dgm:prSet presAssocID="{63F873C2-B5AE-4130-A69F-2628F44EDAE1}" presName="vert1" presStyleCnt="0"/>
      <dgm:spPr/>
    </dgm:pt>
    <dgm:pt modelId="{6060CE3F-233E-6E40-AFCA-D174BAFB4890}" type="pres">
      <dgm:prSet presAssocID="{330E0CB7-A7CB-4F51-94A8-9D5C3A6205A1}" presName="thickLine" presStyleLbl="alignNode1" presStyleIdx="6" presStyleCnt="7"/>
      <dgm:spPr/>
    </dgm:pt>
    <dgm:pt modelId="{DFC79AA2-F9BB-CC4D-B01B-0717955A816A}" type="pres">
      <dgm:prSet presAssocID="{330E0CB7-A7CB-4F51-94A8-9D5C3A6205A1}" presName="horz1" presStyleCnt="0"/>
      <dgm:spPr/>
    </dgm:pt>
    <dgm:pt modelId="{028660E9-536F-804C-B47C-9357299B8E98}" type="pres">
      <dgm:prSet presAssocID="{330E0CB7-A7CB-4F51-94A8-9D5C3A6205A1}" presName="tx1" presStyleLbl="revTx" presStyleIdx="6" presStyleCnt="7"/>
      <dgm:spPr/>
    </dgm:pt>
    <dgm:pt modelId="{56ED3578-FFB0-B54B-883A-960F7FB4645E}" type="pres">
      <dgm:prSet presAssocID="{330E0CB7-A7CB-4F51-94A8-9D5C3A6205A1}" presName="vert1" presStyleCnt="0"/>
      <dgm:spPr/>
    </dgm:pt>
  </dgm:ptLst>
  <dgm:cxnLst>
    <dgm:cxn modelId="{BE137101-178C-40AF-A16E-82F1925A6B57}" srcId="{56DCF84E-A5C9-470E-AF56-A1416E31832C}" destId="{63F873C2-B5AE-4130-A69F-2628F44EDAE1}" srcOrd="5" destOrd="0" parTransId="{5B3304FD-E00D-4552-90D9-5A9CB092F705}" sibTransId="{26F0D539-1C8F-4054-B237-E67FE86182DA}"/>
    <dgm:cxn modelId="{48C11D14-929A-2D4F-BC1A-861E75B9437A}" type="presOf" srcId="{9016EF15-6A11-4AA3-B96F-76798C5B588E}" destId="{49BE1713-44F9-D146-A79F-5058BC9E59F8}" srcOrd="0" destOrd="0" presId="urn:microsoft.com/office/officeart/2008/layout/LinedList"/>
    <dgm:cxn modelId="{4FBF3F1E-28AF-204A-B518-744B9655A158}" type="presOf" srcId="{330E0CB7-A7CB-4F51-94A8-9D5C3A6205A1}" destId="{028660E9-536F-804C-B47C-9357299B8E98}" srcOrd="0" destOrd="0" presId="urn:microsoft.com/office/officeart/2008/layout/LinedList"/>
    <dgm:cxn modelId="{439E784B-DEB2-D64E-9885-A5277B2C7CA9}" type="presOf" srcId="{F622FA45-E9B8-40BD-B41F-A4EEC47D42DB}" destId="{4AEFEC45-BC36-9644-905B-3DDE6A7AC911}" srcOrd="0" destOrd="0" presId="urn:microsoft.com/office/officeart/2008/layout/LinedList"/>
    <dgm:cxn modelId="{102A3F58-61F5-4346-A720-8E30FD992AD6}" srcId="{56DCF84E-A5C9-470E-AF56-A1416E31832C}" destId="{9016EF15-6A11-4AA3-B96F-76798C5B588E}" srcOrd="3" destOrd="0" parTransId="{CA8E3327-CB22-417F-8469-65781E4A4D25}" sibTransId="{B2C91782-7C5D-4885-8686-96D34FFC4C6F}"/>
    <dgm:cxn modelId="{FF4B7C68-03D0-4C1F-993E-55A2ECBA6FE8}" srcId="{56DCF84E-A5C9-470E-AF56-A1416E31832C}" destId="{F622FA45-E9B8-40BD-B41F-A4EEC47D42DB}" srcOrd="1" destOrd="0" parTransId="{A41C9949-B500-4503-B455-BC04E5FFE679}" sibTransId="{5F3AF27F-C2EF-46CB-AEBE-FEB6DE0968D8}"/>
    <dgm:cxn modelId="{E0252A6E-5EEE-914F-BE72-56BE550ABBE4}" type="presOf" srcId="{63F873C2-B5AE-4130-A69F-2628F44EDAE1}" destId="{74FE1C8D-84B7-AE43-8177-46011A39F484}" srcOrd="0" destOrd="0" presId="urn:microsoft.com/office/officeart/2008/layout/LinedList"/>
    <dgm:cxn modelId="{C888CE84-A757-476A-98E0-4ACD718303D0}" srcId="{56DCF84E-A5C9-470E-AF56-A1416E31832C}" destId="{F619C72A-D40A-416B-BF22-009CF211D852}" srcOrd="0" destOrd="0" parTransId="{5B1EB512-C21D-4EEA-85EC-40502581DF8F}" sibTransId="{C7536D24-D6AA-408B-A884-53E3EA195CAC}"/>
    <dgm:cxn modelId="{423A9A94-2C0A-45A9-A93F-6CFEAAB13DE7}" srcId="{56DCF84E-A5C9-470E-AF56-A1416E31832C}" destId="{50943CB5-F7F8-40A0-B296-7F5F1009FD62}" srcOrd="2" destOrd="0" parTransId="{C944C1E6-B174-4642-B7DB-52E930C3DA1D}" sibTransId="{9433259D-08A5-4276-8FD9-37C86F0D94D6}"/>
    <dgm:cxn modelId="{717EDE9C-AB04-7740-901E-AE6F845C6C7C}" type="presOf" srcId="{56DCF84E-A5C9-470E-AF56-A1416E31832C}" destId="{ED20E6B1-A8B6-5E4B-B922-4EF14F7048C3}" srcOrd="0" destOrd="0" presId="urn:microsoft.com/office/officeart/2008/layout/LinedList"/>
    <dgm:cxn modelId="{914255B0-3125-44C4-B573-870FA99ACF5D}" srcId="{56DCF84E-A5C9-470E-AF56-A1416E31832C}" destId="{330E0CB7-A7CB-4F51-94A8-9D5C3A6205A1}" srcOrd="6" destOrd="0" parTransId="{6E22101A-108B-4AF3-AE23-4A64D064112C}" sibTransId="{71D47E40-CE39-482B-8B26-2CC5138A5385}"/>
    <dgm:cxn modelId="{FD7565B2-10CF-7C46-A36C-99925A9CEC6E}" type="presOf" srcId="{E35FAE07-C173-4343-A082-B0AA911DC538}" destId="{DDD82C76-BBC4-1545-8BB2-DFBEBFC15E65}" srcOrd="0" destOrd="0" presId="urn:microsoft.com/office/officeart/2008/layout/LinedList"/>
    <dgm:cxn modelId="{977B1CCF-A32F-4945-A686-1AA7263812F4}" type="presOf" srcId="{50943CB5-F7F8-40A0-B296-7F5F1009FD62}" destId="{0DCD26EE-847E-0640-9D9C-A39C4238B484}" srcOrd="0" destOrd="0" presId="urn:microsoft.com/office/officeart/2008/layout/LinedList"/>
    <dgm:cxn modelId="{41CA5CDE-BF3A-DF40-BFC8-9375BFC49F55}" type="presOf" srcId="{F619C72A-D40A-416B-BF22-009CF211D852}" destId="{9AB92615-6B5A-3E45-9414-346B947B9411}" srcOrd="0" destOrd="0" presId="urn:microsoft.com/office/officeart/2008/layout/LinedList"/>
    <dgm:cxn modelId="{2D36B7E8-A21F-4768-9572-468B96768B4D}" srcId="{56DCF84E-A5C9-470E-AF56-A1416E31832C}" destId="{E35FAE07-C173-4343-A082-B0AA911DC538}" srcOrd="4" destOrd="0" parTransId="{973727A7-8E27-47A8-8507-8D11E9820FBF}" sibTransId="{E71F9D25-9510-40DE-8957-AAA5DFE05BB0}"/>
    <dgm:cxn modelId="{654EA86F-5836-CD4B-8E35-6F16494CF45D}" type="presParOf" srcId="{ED20E6B1-A8B6-5E4B-B922-4EF14F7048C3}" destId="{99D224AC-14A8-6141-85A4-FA62AB8EDC1D}" srcOrd="0" destOrd="0" presId="urn:microsoft.com/office/officeart/2008/layout/LinedList"/>
    <dgm:cxn modelId="{132BA9F6-F841-2F4C-BD56-0696EA15930C}" type="presParOf" srcId="{ED20E6B1-A8B6-5E4B-B922-4EF14F7048C3}" destId="{623C04F7-0A17-374C-8A31-7E539E7A96C8}" srcOrd="1" destOrd="0" presId="urn:microsoft.com/office/officeart/2008/layout/LinedList"/>
    <dgm:cxn modelId="{0CED65EF-CA05-DC4B-89FE-0CF0EFBBF253}" type="presParOf" srcId="{623C04F7-0A17-374C-8A31-7E539E7A96C8}" destId="{9AB92615-6B5A-3E45-9414-346B947B9411}" srcOrd="0" destOrd="0" presId="urn:microsoft.com/office/officeart/2008/layout/LinedList"/>
    <dgm:cxn modelId="{A0116839-334F-DC4E-98A9-2F7E33334463}" type="presParOf" srcId="{623C04F7-0A17-374C-8A31-7E539E7A96C8}" destId="{C9EFB037-9504-CE45-B7C4-03A7B221C34F}" srcOrd="1" destOrd="0" presId="urn:microsoft.com/office/officeart/2008/layout/LinedList"/>
    <dgm:cxn modelId="{9F77DD5F-1253-8C41-A89B-9BEA72C7FC13}" type="presParOf" srcId="{ED20E6B1-A8B6-5E4B-B922-4EF14F7048C3}" destId="{A1DA02CA-6AA6-1641-90A3-99713E67181D}" srcOrd="2" destOrd="0" presId="urn:microsoft.com/office/officeart/2008/layout/LinedList"/>
    <dgm:cxn modelId="{978A5203-5303-3D47-8EA1-733C19D86D7B}" type="presParOf" srcId="{ED20E6B1-A8B6-5E4B-B922-4EF14F7048C3}" destId="{1F6B0757-27DC-5149-ADA0-410E3C3227B4}" srcOrd="3" destOrd="0" presId="urn:microsoft.com/office/officeart/2008/layout/LinedList"/>
    <dgm:cxn modelId="{0F137C49-EAEA-A44F-8083-259ED47CCA15}" type="presParOf" srcId="{1F6B0757-27DC-5149-ADA0-410E3C3227B4}" destId="{4AEFEC45-BC36-9644-905B-3DDE6A7AC911}" srcOrd="0" destOrd="0" presId="urn:microsoft.com/office/officeart/2008/layout/LinedList"/>
    <dgm:cxn modelId="{07C9ED2F-60AA-6A40-B12A-E2A392293ABE}" type="presParOf" srcId="{1F6B0757-27DC-5149-ADA0-410E3C3227B4}" destId="{C37227B5-A0C8-214E-B64A-584A5C383519}" srcOrd="1" destOrd="0" presId="urn:microsoft.com/office/officeart/2008/layout/LinedList"/>
    <dgm:cxn modelId="{1E3327C7-C8A1-904F-9EAE-348F71318A71}" type="presParOf" srcId="{ED20E6B1-A8B6-5E4B-B922-4EF14F7048C3}" destId="{772C2CF6-0FED-1845-A9D0-33A308F8360D}" srcOrd="4" destOrd="0" presId="urn:microsoft.com/office/officeart/2008/layout/LinedList"/>
    <dgm:cxn modelId="{1D46EB73-B3C6-7B48-BC1A-FA592706BB5E}" type="presParOf" srcId="{ED20E6B1-A8B6-5E4B-B922-4EF14F7048C3}" destId="{1D6EB893-E9DA-CB43-9F3B-5CEC50563E9F}" srcOrd="5" destOrd="0" presId="urn:microsoft.com/office/officeart/2008/layout/LinedList"/>
    <dgm:cxn modelId="{960339CA-6E86-DD4F-9EE5-6E7970B5273F}" type="presParOf" srcId="{1D6EB893-E9DA-CB43-9F3B-5CEC50563E9F}" destId="{0DCD26EE-847E-0640-9D9C-A39C4238B484}" srcOrd="0" destOrd="0" presId="urn:microsoft.com/office/officeart/2008/layout/LinedList"/>
    <dgm:cxn modelId="{12527554-FE9D-9543-8D69-0A51F42C4589}" type="presParOf" srcId="{1D6EB893-E9DA-CB43-9F3B-5CEC50563E9F}" destId="{ED7AD0AA-1B49-D344-8980-6A195E768620}" srcOrd="1" destOrd="0" presId="urn:microsoft.com/office/officeart/2008/layout/LinedList"/>
    <dgm:cxn modelId="{75B0C799-F3C4-6F4F-AB16-EB71456F9629}" type="presParOf" srcId="{ED20E6B1-A8B6-5E4B-B922-4EF14F7048C3}" destId="{C378C931-B06E-3240-AE20-195553DFABF0}" srcOrd="6" destOrd="0" presId="urn:microsoft.com/office/officeart/2008/layout/LinedList"/>
    <dgm:cxn modelId="{1E3A60F8-95BA-C942-A5DE-71B34BCB6C43}" type="presParOf" srcId="{ED20E6B1-A8B6-5E4B-B922-4EF14F7048C3}" destId="{E08ABA6E-2A4E-8C44-B276-E28EB5815A96}" srcOrd="7" destOrd="0" presId="urn:microsoft.com/office/officeart/2008/layout/LinedList"/>
    <dgm:cxn modelId="{5FA5B03C-7015-6940-A02F-E0862E1B208B}" type="presParOf" srcId="{E08ABA6E-2A4E-8C44-B276-E28EB5815A96}" destId="{49BE1713-44F9-D146-A79F-5058BC9E59F8}" srcOrd="0" destOrd="0" presId="urn:microsoft.com/office/officeart/2008/layout/LinedList"/>
    <dgm:cxn modelId="{FD3419E9-5330-5E4C-AF32-91A6EC5705C8}" type="presParOf" srcId="{E08ABA6E-2A4E-8C44-B276-E28EB5815A96}" destId="{0EDAD982-9658-7744-B373-4AC1045F4877}" srcOrd="1" destOrd="0" presId="urn:microsoft.com/office/officeart/2008/layout/LinedList"/>
    <dgm:cxn modelId="{7F7818EB-2D96-3F48-B5E2-375CA21A34FF}" type="presParOf" srcId="{ED20E6B1-A8B6-5E4B-B922-4EF14F7048C3}" destId="{A3FB94E8-940E-A74D-A102-6A1172571521}" srcOrd="8" destOrd="0" presId="urn:microsoft.com/office/officeart/2008/layout/LinedList"/>
    <dgm:cxn modelId="{F5F9ED45-1DB3-4047-B3D0-1D712A45FC92}" type="presParOf" srcId="{ED20E6B1-A8B6-5E4B-B922-4EF14F7048C3}" destId="{533E2CB0-D81E-6349-A637-94E73B09FC0D}" srcOrd="9" destOrd="0" presId="urn:microsoft.com/office/officeart/2008/layout/LinedList"/>
    <dgm:cxn modelId="{9D47C6C3-0075-3849-BE1A-A6E8975FB6FA}" type="presParOf" srcId="{533E2CB0-D81E-6349-A637-94E73B09FC0D}" destId="{DDD82C76-BBC4-1545-8BB2-DFBEBFC15E65}" srcOrd="0" destOrd="0" presId="urn:microsoft.com/office/officeart/2008/layout/LinedList"/>
    <dgm:cxn modelId="{7533AE0A-3863-9440-9552-805E415613E7}" type="presParOf" srcId="{533E2CB0-D81E-6349-A637-94E73B09FC0D}" destId="{ECA0A45F-6E78-CA45-94FD-74533478AD95}" srcOrd="1" destOrd="0" presId="urn:microsoft.com/office/officeart/2008/layout/LinedList"/>
    <dgm:cxn modelId="{A8CD39A3-5E24-7746-A239-58177E10DD5E}" type="presParOf" srcId="{ED20E6B1-A8B6-5E4B-B922-4EF14F7048C3}" destId="{010C065D-D2CE-5E47-AF0E-9B0869CC2DAB}" srcOrd="10" destOrd="0" presId="urn:microsoft.com/office/officeart/2008/layout/LinedList"/>
    <dgm:cxn modelId="{755E6B77-4304-8D4E-A9F8-9FC786DFA6D1}" type="presParOf" srcId="{ED20E6B1-A8B6-5E4B-B922-4EF14F7048C3}" destId="{5FA3DC13-B9B8-BF48-BA60-D1EDAFB0A447}" srcOrd="11" destOrd="0" presId="urn:microsoft.com/office/officeart/2008/layout/LinedList"/>
    <dgm:cxn modelId="{E6448F25-B7D8-DD46-B1ED-40CE1DA308B6}" type="presParOf" srcId="{5FA3DC13-B9B8-BF48-BA60-D1EDAFB0A447}" destId="{74FE1C8D-84B7-AE43-8177-46011A39F484}" srcOrd="0" destOrd="0" presId="urn:microsoft.com/office/officeart/2008/layout/LinedList"/>
    <dgm:cxn modelId="{7E92C406-2DC1-8246-B58D-998F3044A65B}" type="presParOf" srcId="{5FA3DC13-B9B8-BF48-BA60-D1EDAFB0A447}" destId="{5BE035E2-709C-2442-815A-DA5EBD21F1DD}" srcOrd="1" destOrd="0" presId="urn:microsoft.com/office/officeart/2008/layout/LinedList"/>
    <dgm:cxn modelId="{96F0C6FC-FDF3-B948-90FC-664D25CD9633}" type="presParOf" srcId="{ED20E6B1-A8B6-5E4B-B922-4EF14F7048C3}" destId="{6060CE3F-233E-6E40-AFCA-D174BAFB4890}" srcOrd="12" destOrd="0" presId="urn:microsoft.com/office/officeart/2008/layout/LinedList"/>
    <dgm:cxn modelId="{18EB7820-E198-7743-95F1-D0503B1EF1CE}" type="presParOf" srcId="{ED20E6B1-A8B6-5E4B-B922-4EF14F7048C3}" destId="{DFC79AA2-F9BB-CC4D-B01B-0717955A816A}" srcOrd="13" destOrd="0" presId="urn:microsoft.com/office/officeart/2008/layout/LinedList"/>
    <dgm:cxn modelId="{3CC8EC17-2320-084E-B56F-BDA170F1AD6B}" type="presParOf" srcId="{DFC79AA2-F9BB-CC4D-B01B-0717955A816A}" destId="{028660E9-536F-804C-B47C-9357299B8E98}" srcOrd="0" destOrd="0" presId="urn:microsoft.com/office/officeart/2008/layout/LinedList"/>
    <dgm:cxn modelId="{EB93DE1E-6B3A-0947-B38D-ACC2723E3EDF}" type="presParOf" srcId="{DFC79AA2-F9BB-CC4D-B01B-0717955A816A}" destId="{56ED3578-FFB0-B54B-883A-960F7FB4645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C73B8B-81AB-46F6-83C8-B6D7690DF33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BCDD37E-E1BC-47AE-8CD4-6E9786B76EE9}">
      <dgm:prSet custT="1"/>
      <dgm:spPr/>
      <dgm:t>
        <a:bodyPr/>
        <a:lstStyle/>
        <a:p>
          <a:pPr>
            <a:lnSpc>
              <a:spcPct val="100000"/>
            </a:lnSpc>
          </a:pPr>
          <a:r>
            <a:rPr lang="en-US" sz="2000" dirty="0">
              <a:latin typeface="Arial" panose="020B0604020202020204" pitchFamily="34" charset="0"/>
              <a:cs typeface="Arial" panose="020B0604020202020204" pitchFamily="34" charset="0"/>
            </a:rPr>
            <a:t>Implement marketing strategy targeting solo taxi riders and include incentivizing card users as one of the tactics. </a:t>
          </a:r>
        </a:p>
      </dgm:t>
    </dgm:pt>
    <dgm:pt modelId="{F3D8779F-4BFE-469B-A969-7AE40091DE24}" type="parTrans" cxnId="{5E4406C0-7E8F-4870-BA6C-D2CAC5C9A920}">
      <dgm:prSet/>
      <dgm:spPr/>
      <dgm:t>
        <a:bodyPr/>
        <a:lstStyle/>
        <a:p>
          <a:endParaRPr lang="en-US"/>
        </a:p>
      </dgm:t>
    </dgm:pt>
    <dgm:pt modelId="{935306F1-9E2F-4672-A215-03FDD361D692}" type="sibTrans" cxnId="{5E4406C0-7E8F-4870-BA6C-D2CAC5C9A920}">
      <dgm:prSet phldrT="01" phldr="0"/>
      <dgm:spPr/>
      <dgm:t>
        <a:bodyPr/>
        <a:lstStyle/>
        <a:p>
          <a:endParaRPr lang="en-US" dirty="0"/>
        </a:p>
      </dgm:t>
    </dgm:pt>
    <dgm:pt modelId="{3AF58F6D-6315-4B46-AF8C-DD8D82386E83}">
      <dgm:prSet custT="1"/>
      <dgm:spPr/>
      <dgm:t>
        <a:bodyPr/>
        <a:lstStyle/>
        <a:p>
          <a:pPr>
            <a:lnSpc>
              <a:spcPct val="100000"/>
            </a:lnSpc>
          </a:pPr>
          <a:r>
            <a:rPr lang="en-US" sz="2000" dirty="0">
              <a:latin typeface="Arial" panose="020B0604020202020204" pitchFamily="34" charset="0"/>
              <a:cs typeface="Arial" panose="020B0604020202020204" pitchFamily="34" charset="0"/>
            </a:rPr>
            <a:t>Provide digital discount coupons for the card users taking longer distance trip. </a:t>
          </a:r>
        </a:p>
      </dgm:t>
    </dgm:pt>
    <dgm:pt modelId="{5F829980-6C64-4514-9FEF-9A6289FCEEB0}" type="parTrans" cxnId="{FCF82818-2F27-422C-A78C-55836FE71CA3}">
      <dgm:prSet/>
      <dgm:spPr/>
      <dgm:t>
        <a:bodyPr/>
        <a:lstStyle/>
        <a:p>
          <a:endParaRPr lang="en-US"/>
        </a:p>
      </dgm:t>
    </dgm:pt>
    <dgm:pt modelId="{91CD9689-9DF0-4363-8FF1-61E38683E312}" type="sibTrans" cxnId="{FCF82818-2F27-422C-A78C-55836FE71CA3}">
      <dgm:prSet phldrT="02" phldr="0"/>
      <dgm:spPr/>
      <dgm:t>
        <a:bodyPr/>
        <a:lstStyle/>
        <a:p>
          <a:endParaRPr lang="en-US"/>
        </a:p>
      </dgm:t>
    </dgm:pt>
    <dgm:pt modelId="{29976A7A-4B5A-4338-8CF6-4440C921B9D9}">
      <dgm:prSet custT="1"/>
      <dgm:spPr/>
      <dgm:t>
        <a:bodyPr/>
        <a:lstStyle/>
        <a:p>
          <a:pPr>
            <a:lnSpc>
              <a:spcPct val="100000"/>
            </a:lnSpc>
          </a:pPr>
          <a:r>
            <a:rPr lang="en-US" sz="2000" dirty="0">
              <a:latin typeface="Arial" panose="020B0604020202020204" pitchFamily="34" charset="0"/>
              <a:cs typeface="Arial" panose="020B0604020202020204" pitchFamily="34" charset="0"/>
            </a:rPr>
            <a:t>Provide safe and secure payment method for the card users. </a:t>
          </a:r>
        </a:p>
      </dgm:t>
    </dgm:pt>
    <dgm:pt modelId="{A7004BEA-D7F7-4AE3-A604-CF411964D278}" type="parTrans" cxnId="{0771E619-639A-4077-89DE-6A97973574B6}">
      <dgm:prSet/>
      <dgm:spPr/>
      <dgm:t>
        <a:bodyPr/>
        <a:lstStyle/>
        <a:p>
          <a:endParaRPr lang="en-US"/>
        </a:p>
      </dgm:t>
    </dgm:pt>
    <dgm:pt modelId="{0AF8B10B-EBA6-4463-B852-7E10356B55B0}" type="sibTrans" cxnId="{0771E619-639A-4077-89DE-6A97973574B6}">
      <dgm:prSet phldrT="03" phldr="0"/>
      <dgm:spPr/>
      <dgm:t>
        <a:bodyPr/>
        <a:lstStyle/>
        <a:p>
          <a:endParaRPr lang="en-US"/>
        </a:p>
      </dgm:t>
    </dgm:pt>
    <dgm:pt modelId="{8CC2E861-1C94-4477-92AA-7F7CCBA685A0}" type="pres">
      <dgm:prSet presAssocID="{72C73B8B-81AB-46F6-83C8-B6D7690DF33F}" presName="root" presStyleCnt="0">
        <dgm:presLayoutVars>
          <dgm:dir/>
          <dgm:resizeHandles val="exact"/>
        </dgm:presLayoutVars>
      </dgm:prSet>
      <dgm:spPr/>
    </dgm:pt>
    <dgm:pt modelId="{FFA28D72-C715-44C3-AEFE-737C37AB0762}" type="pres">
      <dgm:prSet presAssocID="{1BCDD37E-E1BC-47AE-8CD4-6E9786B76EE9}" presName="compNode" presStyleCnt="0"/>
      <dgm:spPr/>
    </dgm:pt>
    <dgm:pt modelId="{BAA2BF5F-3966-4923-AFDB-419BAF1DF192}" type="pres">
      <dgm:prSet presAssocID="{1BCDD37E-E1BC-47AE-8CD4-6E9786B76EE9}" presName="bgRect" presStyleLbl="bgShp" presStyleIdx="0" presStyleCnt="3"/>
      <dgm:spPr/>
    </dgm:pt>
    <dgm:pt modelId="{797010A5-0173-4831-81E3-97973B4381DD}" type="pres">
      <dgm:prSet presAssocID="{1BCDD37E-E1BC-47AE-8CD4-6E9786B76EE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xi"/>
        </a:ext>
      </dgm:extLst>
    </dgm:pt>
    <dgm:pt modelId="{CEDBF77B-E62A-4CB0-95A0-CC1CE0BCE5C4}" type="pres">
      <dgm:prSet presAssocID="{1BCDD37E-E1BC-47AE-8CD4-6E9786B76EE9}" presName="spaceRect" presStyleCnt="0"/>
      <dgm:spPr/>
    </dgm:pt>
    <dgm:pt modelId="{1C2E9B68-1A59-448C-9B7E-A928A093A680}" type="pres">
      <dgm:prSet presAssocID="{1BCDD37E-E1BC-47AE-8CD4-6E9786B76EE9}" presName="parTx" presStyleLbl="revTx" presStyleIdx="0" presStyleCnt="3">
        <dgm:presLayoutVars>
          <dgm:chMax val="0"/>
          <dgm:chPref val="0"/>
        </dgm:presLayoutVars>
      </dgm:prSet>
      <dgm:spPr/>
    </dgm:pt>
    <dgm:pt modelId="{7A103A57-6F10-41F8-BB68-C62FAFAE0C26}" type="pres">
      <dgm:prSet presAssocID="{935306F1-9E2F-4672-A215-03FDD361D692}" presName="sibTrans" presStyleCnt="0"/>
      <dgm:spPr/>
    </dgm:pt>
    <dgm:pt modelId="{8DCACA10-8617-4408-A693-D6C2342E4F5C}" type="pres">
      <dgm:prSet presAssocID="{3AF58F6D-6315-4B46-AF8C-DD8D82386E83}" presName="compNode" presStyleCnt="0"/>
      <dgm:spPr/>
    </dgm:pt>
    <dgm:pt modelId="{E6344981-19F9-457B-B6F3-76091BC50799}" type="pres">
      <dgm:prSet presAssocID="{3AF58F6D-6315-4B46-AF8C-DD8D82386E83}" presName="bgRect" presStyleLbl="bgShp" presStyleIdx="1" presStyleCnt="3"/>
      <dgm:spPr/>
    </dgm:pt>
    <dgm:pt modelId="{84F809A1-88D6-43B5-ADDC-06F9FBA10AE8}" type="pres">
      <dgm:prSet presAssocID="{3AF58F6D-6315-4B46-AF8C-DD8D82386E8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edit card"/>
        </a:ext>
      </dgm:extLst>
    </dgm:pt>
    <dgm:pt modelId="{CF21E6D8-EC38-4DA0-B14B-7647AD2BC1E4}" type="pres">
      <dgm:prSet presAssocID="{3AF58F6D-6315-4B46-AF8C-DD8D82386E83}" presName="spaceRect" presStyleCnt="0"/>
      <dgm:spPr/>
    </dgm:pt>
    <dgm:pt modelId="{1C3C2030-5D17-4AE5-A533-12629D117D73}" type="pres">
      <dgm:prSet presAssocID="{3AF58F6D-6315-4B46-AF8C-DD8D82386E83}" presName="parTx" presStyleLbl="revTx" presStyleIdx="1" presStyleCnt="3">
        <dgm:presLayoutVars>
          <dgm:chMax val="0"/>
          <dgm:chPref val="0"/>
        </dgm:presLayoutVars>
      </dgm:prSet>
      <dgm:spPr/>
    </dgm:pt>
    <dgm:pt modelId="{4C2320A9-50C6-4198-9E83-9FB8DCA9002D}" type="pres">
      <dgm:prSet presAssocID="{91CD9689-9DF0-4363-8FF1-61E38683E312}" presName="sibTrans" presStyleCnt="0"/>
      <dgm:spPr/>
    </dgm:pt>
    <dgm:pt modelId="{5284B5AD-4EFF-4CCA-9EE3-B457E647A063}" type="pres">
      <dgm:prSet presAssocID="{29976A7A-4B5A-4338-8CF6-4440C921B9D9}" presName="compNode" presStyleCnt="0"/>
      <dgm:spPr/>
    </dgm:pt>
    <dgm:pt modelId="{A3823E83-FB4A-47FF-BA79-6D0ADC3577BF}" type="pres">
      <dgm:prSet presAssocID="{29976A7A-4B5A-4338-8CF6-4440C921B9D9}" presName="bgRect" presStyleLbl="bgShp" presStyleIdx="2" presStyleCnt="3"/>
      <dgm:spPr/>
    </dgm:pt>
    <dgm:pt modelId="{31DBF008-6197-428E-8378-8C7D02721970}" type="pres">
      <dgm:prSet presAssocID="{29976A7A-4B5A-4338-8CF6-4440C921B9D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nk Check"/>
        </a:ext>
      </dgm:extLst>
    </dgm:pt>
    <dgm:pt modelId="{AA8978BC-3AAB-45F4-B80F-EDF0E4752E45}" type="pres">
      <dgm:prSet presAssocID="{29976A7A-4B5A-4338-8CF6-4440C921B9D9}" presName="spaceRect" presStyleCnt="0"/>
      <dgm:spPr/>
    </dgm:pt>
    <dgm:pt modelId="{19461377-C7AD-42A8-8D34-A99B0051FBC2}" type="pres">
      <dgm:prSet presAssocID="{29976A7A-4B5A-4338-8CF6-4440C921B9D9}" presName="parTx" presStyleLbl="revTx" presStyleIdx="2" presStyleCnt="3">
        <dgm:presLayoutVars>
          <dgm:chMax val="0"/>
          <dgm:chPref val="0"/>
        </dgm:presLayoutVars>
      </dgm:prSet>
      <dgm:spPr/>
    </dgm:pt>
  </dgm:ptLst>
  <dgm:cxnLst>
    <dgm:cxn modelId="{FCF82818-2F27-422C-A78C-55836FE71CA3}" srcId="{72C73B8B-81AB-46F6-83C8-B6D7690DF33F}" destId="{3AF58F6D-6315-4B46-AF8C-DD8D82386E83}" srcOrd="1" destOrd="0" parTransId="{5F829980-6C64-4514-9FEF-9A6289FCEEB0}" sibTransId="{91CD9689-9DF0-4363-8FF1-61E38683E312}"/>
    <dgm:cxn modelId="{0771E619-639A-4077-89DE-6A97973574B6}" srcId="{72C73B8B-81AB-46F6-83C8-B6D7690DF33F}" destId="{29976A7A-4B5A-4338-8CF6-4440C921B9D9}" srcOrd="2" destOrd="0" parTransId="{A7004BEA-D7F7-4AE3-A604-CF411964D278}" sibTransId="{0AF8B10B-EBA6-4463-B852-7E10356B55B0}"/>
    <dgm:cxn modelId="{41738588-6D46-D44F-8C66-EDC48C453F8F}" type="presOf" srcId="{72C73B8B-81AB-46F6-83C8-B6D7690DF33F}" destId="{8CC2E861-1C94-4477-92AA-7F7CCBA685A0}" srcOrd="0" destOrd="0" presId="urn:microsoft.com/office/officeart/2018/2/layout/IconVerticalSolidList"/>
    <dgm:cxn modelId="{5E4406C0-7E8F-4870-BA6C-D2CAC5C9A920}" srcId="{72C73B8B-81AB-46F6-83C8-B6D7690DF33F}" destId="{1BCDD37E-E1BC-47AE-8CD4-6E9786B76EE9}" srcOrd="0" destOrd="0" parTransId="{F3D8779F-4BFE-469B-A969-7AE40091DE24}" sibTransId="{935306F1-9E2F-4672-A215-03FDD361D692}"/>
    <dgm:cxn modelId="{6687EFE3-761A-6E47-94E1-DCC18140C974}" type="presOf" srcId="{1BCDD37E-E1BC-47AE-8CD4-6E9786B76EE9}" destId="{1C2E9B68-1A59-448C-9B7E-A928A093A680}" srcOrd="0" destOrd="0" presId="urn:microsoft.com/office/officeart/2018/2/layout/IconVerticalSolidList"/>
    <dgm:cxn modelId="{C67674F4-F381-A242-BE21-CCAB909C8E9E}" type="presOf" srcId="{3AF58F6D-6315-4B46-AF8C-DD8D82386E83}" destId="{1C3C2030-5D17-4AE5-A533-12629D117D73}" srcOrd="0" destOrd="0" presId="urn:microsoft.com/office/officeart/2018/2/layout/IconVerticalSolidList"/>
    <dgm:cxn modelId="{67B9A6F7-96D8-1947-ABA2-8AFC2C779F19}" type="presOf" srcId="{29976A7A-4B5A-4338-8CF6-4440C921B9D9}" destId="{19461377-C7AD-42A8-8D34-A99B0051FBC2}" srcOrd="0" destOrd="0" presId="urn:microsoft.com/office/officeart/2018/2/layout/IconVerticalSolidList"/>
    <dgm:cxn modelId="{98703808-144D-BC48-ADE7-33E3B8490BBC}" type="presParOf" srcId="{8CC2E861-1C94-4477-92AA-7F7CCBA685A0}" destId="{FFA28D72-C715-44C3-AEFE-737C37AB0762}" srcOrd="0" destOrd="0" presId="urn:microsoft.com/office/officeart/2018/2/layout/IconVerticalSolidList"/>
    <dgm:cxn modelId="{8542BD94-AFC0-5841-BE59-05CCFB4C1B62}" type="presParOf" srcId="{FFA28D72-C715-44C3-AEFE-737C37AB0762}" destId="{BAA2BF5F-3966-4923-AFDB-419BAF1DF192}" srcOrd="0" destOrd="0" presId="urn:microsoft.com/office/officeart/2018/2/layout/IconVerticalSolidList"/>
    <dgm:cxn modelId="{61E44422-295F-1444-AB33-876FCAABF28E}" type="presParOf" srcId="{FFA28D72-C715-44C3-AEFE-737C37AB0762}" destId="{797010A5-0173-4831-81E3-97973B4381DD}" srcOrd="1" destOrd="0" presId="urn:microsoft.com/office/officeart/2018/2/layout/IconVerticalSolidList"/>
    <dgm:cxn modelId="{73873F1B-6F13-5141-9665-4B9A0508D7B1}" type="presParOf" srcId="{FFA28D72-C715-44C3-AEFE-737C37AB0762}" destId="{CEDBF77B-E62A-4CB0-95A0-CC1CE0BCE5C4}" srcOrd="2" destOrd="0" presId="urn:microsoft.com/office/officeart/2018/2/layout/IconVerticalSolidList"/>
    <dgm:cxn modelId="{1FA08CF9-ED37-4449-B8A1-135B32C09885}" type="presParOf" srcId="{FFA28D72-C715-44C3-AEFE-737C37AB0762}" destId="{1C2E9B68-1A59-448C-9B7E-A928A093A680}" srcOrd="3" destOrd="0" presId="urn:microsoft.com/office/officeart/2018/2/layout/IconVerticalSolidList"/>
    <dgm:cxn modelId="{E83A8187-5FB1-DB4C-B82F-3CBEFF79C0A1}" type="presParOf" srcId="{8CC2E861-1C94-4477-92AA-7F7CCBA685A0}" destId="{7A103A57-6F10-41F8-BB68-C62FAFAE0C26}" srcOrd="1" destOrd="0" presId="urn:microsoft.com/office/officeart/2018/2/layout/IconVerticalSolidList"/>
    <dgm:cxn modelId="{EB7B5D21-EF07-F947-931F-734FCAE21385}" type="presParOf" srcId="{8CC2E861-1C94-4477-92AA-7F7CCBA685A0}" destId="{8DCACA10-8617-4408-A693-D6C2342E4F5C}" srcOrd="2" destOrd="0" presId="urn:microsoft.com/office/officeart/2018/2/layout/IconVerticalSolidList"/>
    <dgm:cxn modelId="{0BBB25D6-E519-F844-A4F6-08C0530E8FF2}" type="presParOf" srcId="{8DCACA10-8617-4408-A693-D6C2342E4F5C}" destId="{E6344981-19F9-457B-B6F3-76091BC50799}" srcOrd="0" destOrd="0" presId="urn:microsoft.com/office/officeart/2018/2/layout/IconVerticalSolidList"/>
    <dgm:cxn modelId="{16B8A7CB-0BCE-9F4A-8FB1-A0EA45B2434C}" type="presParOf" srcId="{8DCACA10-8617-4408-A693-D6C2342E4F5C}" destId="{84F809A1-88D6-43B5-ADDC-06F9FBA10AE8}" srcOrd="1" destOrd="0" presId="urn:microsoft.com/office/officeart/2018/2/layout/IconVerticalSolidList"/>
    <dgm:cxn modelId="{FB8BA1A8-A030-9D4D-B250-8FF097DD64D4}" type="presParOf" srcId="{8DCACA10-8617-4408-A693-D6C2342E4F5C}" destId="{CF21E6D8-EC38-4DA0-B14B-7647AD2BC1E4}" srcOrd="2" destOrd="0" presId="urn:microsoft.com/office/officeart/2018/2/layout/IconVerticalSolidList"/>
    <dgm:cxn modelId="{9F140C95-C8D3-DA4C-9F21-D52366530C79}" type="presParOf" srcId="{8DCACA10-8617-4408-A693-D6C2342E4F5C}" destId="{1C3C2030-5D17-4AE5-A533-12629D117D73}" srcOrd="3" destOrd="0" presId="urn:microsoft.com/office/officeart/2018/2/layout/IconVerticalSolidList"/>
    <dgm:cxn modelId="{E236A822-B02F-EE4F-8DC8-A64D7AA5D2BC}" type="presParOf" srcId="{8CC2E861-1C94-4477-92AA-7F7CCBA685A0}" destId="{4C2320A9-50C6-4198-9E83-9FB8DCA9002D}" srcOrd="3" destOrd="0" presId="urn:microsoft.com/office/officeart/2018/2/layout/IconVerticalSolidList"/>
    <dgm:cxn modelId="{3198BEEC-25F8-3345-9C77-EFFEA4EB4B65}" type="presParOf" srcId="{8CC2E861-1C94-4477-92AA-7F7CCBA685A0}" destId="{5284B5AD-4EFF-4CCA-9EE3-B457E647A063}" srcOrd="4" destOrd="0" presId="urn:microsoft.com/office/officeart/2018/2/layout/IconVerticalSolidList"/>
    <dgm:cxn modelId="{97F9989B-1A6A-0843-834F-C89C98456C71}" type="presParOf" srcId="{5284B5AD-4EFF-4CCA-9EE3-B457E647A063}" destId="{A3823E83-FB4A-47FF-BA79-6D0ADC3577BF}" srcOrd="0" destOrd="0" presId="urn:microsoft.com/office/officeart/2018/2/layout/IconVerticalSolidList"/>
    <dgm:cxn modelId="{05CEA653-9724-D343-A00F-4AF26E889429}" type="presParOf" srcId="{5284B5AD-4EFF-4CCA-9EE3-B457E647A063}" destId="{31DBF008-6197-428E-8378-8C7D02721970}" srcOrd="1" destOrd="0" presId="urn:microsoft.com/office/officeart/2018/2/layout/IconVerticalSolidList"/>
    <dgm:cxn modelId="{6A50C678-40CD-1E4D-AC8B-C948158D7382}" type="presParOf" srcId="{5284B5AD-4EFF-4CCA-9EE3-B457E647A063}" destId="{AA8978BC-3AAB-45F4-B80F-EDF0E4752E45}" srcOrd="2" destOrd="0" presId="urn:microsoft.com/office/officeart/2018/2/layout/IconVerticalSolidList"/>
    <dgm:cxn modelId="{B1DDD218-6C5A-C940-9EC0-F6F1D9A2E5C5}" type="presParOf" srcId="{5284B5AD-4EFF-4CCA-9EE3-B457E647A063}" destId="{19461377-C7AD-42A8-8D34-A99B0051FBC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D224AC-14A8-6141-85A4-FA62AB8EDC1D}">
      <dsp:nvSpPr>
        <dsp:cNvPr id="0" name=""/>
        <dsp:cNvSpPr/>
      </dsp:nvSpPr>
      <dsp:spPr>
        <a:xfrm>
          <a:off x="0" y="708"/>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B92615-6B5A-3E45-9414-346B947B9411}">
      <dsp:nvSpPr>
        <dsp:cNvPr id="0" name=""/>
        <dsp:cNvSpPr/>
      </dsp:nvSpPr>
      <dsp:spPr>
        <a:xfrm>
          <a:off x="0" y="708"/>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Problem Statement</a:t>
          </a:r>
        </a:p>
      </dsp:txBody>
      <dsp:txXfrm>
        <a:off x="0" y="708"/>
        <a:ext cx="7315200" cy="829288"/>
      </dsp:txXfrm>
    </dsp:sp>
    <dsp:sp modelId="{A1DA02CA-6AA6-1641-90A3-99713E67181D}">
      <dsp:nvSpPr>
        <dsp:cNvPr id="0" name=""/>
        <dsp:cNvSpPr/>
      </dsp:nvSpPr>
      <dsp:spPr>
        <a:xfrm>
          <a:off x="0" y="829997"/>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EFEC45-BC36-9644-905B-3DDE6A7AC911}">
      <dsp:nvSpPr>
        <dsp:cNvPr id="0" name=""/>
        <dsp:cNvSpPr/>
      </dsp:nvSpPr>
      <dsp:spPr>
        <a:xfrm>
          <a:off x="0" y="829997"/>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Research Question </a:t>
          </a:r>
        </a:p>
      </dsp:txBody>
      <dsp:txXfrm>
        <a:off x="0" y="829997"/>
        <a:ext cx="7315200" cy="829288"/>
      </dsp:txXfrm>
    </dsp:sp>
    <dsp:sp modelId="{772C2CF6-0FED-1845-A9D0-33A308F8360D}">
      <dsp:nvSpPr>
        <dsp:cNvPr id="0" name=""/>
        <dsp:cNvSpPr/>
      </dsp:nvSpPr>
      <dsp:spPr>
        <a:xfrm>
          <a:off x="0" y="1659286"/>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CD26EE-847E-0640-9D9C-A39C4238B484}">
      <dsp:nvSpPr>
        <dsp:cNvPr id="0" name=""/>
        <dsp:cNvSpPr/>
      </dsp:nvSpPr>
      <dsp:spPr>
        <a:xfrm>
          <a:off x="0" y="1659286"/>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Data Overview</a:t>
          </a:r>
        </a:p>
      </dsp:txBody>
      <dsp:txXfrm>
        <a:off x="0" y="1659286"/>
        <a:ext cx="7315200" cy="829288"/>
      </dsp:txXfrm>
    </dsp:sp>
    <dsp:sp modelId="{C378C931-B06E-3240-AE20-195553DFABF0}">
      <dsp:nvSpPr>
        <dsp:cNvPr id="0" name=""/>
        <dsp:cNvSpPr/>
      </dsp:nvSpPr>
      <dsp:spPr>
        <a:xfrm>
          <a:off x="0" y="2488575"/>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BE1713-44F9-D146-A79F-5058BC9E59F8}">
      <dsp:nvSpPr>
        <dsp:cNvPr id="0" name=""/>
        <dsp:cNvSpPr/>
      </dsp:nvSpPr>
      <dsp:spPr>
        <a:xfrm>
          <a:off x="0" y="2488575"/>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Methodology </a:t>
          </a:r>
        </a:p>
      </dsp:txBody>
      <dsp:txXfrm>
        <a:off x="0" y="2488575"/>
        <a:ext cx="7315200" cy="829288"/>
      </dsp:txXfrm>
    </dsp:sp>
    <dsp:sp modelId="{A3FB94E8-940E-A74D-A102-6A1172571521}">
      <dsp:nvSpPr>
        <dsp:cNvPr id="0" name=""/>
        <dsp:cNvSpPr/>
      </dsp:nvSpPr>
      <dsp:spPr>
        <a:xfrm>
          <a:off x="0" y="3317864"/>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D82C76-BBC4-1545-8BB2-DFBEBFC15E65}">
      <dsp:nvSpPr>
        <dsp:cNvPr id="0" name=""/>
        <dsp:cNvSpPr/>
      </dsp:nvSpPr>
      <dsp:spPr>
        <a:xfrm>
          <a:off x="0" y="3317864"/>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Analysis and Findings </a:t>
          </a:r>
        </a:p>
      </dsp:txBody>
      <dsp:txXfrm>
        <a:off x="0" y="3317864"/>
        <a:ext cx="7315200" cy="829288"/>
      </dsp:txXfrm>
    </dsp:sp>
    <dsp:sp modelId="{010C065D-D2CE-5E47-AF0E-9B0869CC2DAB}">
      <dsp:nvSpPr>
        <dsp:cNvPr id="0" name=""/>
        <dsp:cNvSpPr/>
      </dsp:nvSpPr>
      <dsp:spPr>
        <a:xfrm>
          <a:off x="0" y="4147153"/>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FE1C8D-84B7-AE43-8177-46011A39F484}">
      <dsp:nvSpPr>
        <dsp:cNvPr id="0" name=""/>
        <dsp:cNvSpPr/>
      </dsp:nvSpPr>
      <dsp:spPr>
        <a:xfrm>
          <a:off x="0" y="4147153"/>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Hypothesis Testing </a:t>
          </a:r>
        </a:p>
      </dsp:txBody>
      <dsp:txXfrm>
        <a:off x="0" y="4147153"/>
        <a:ext cx="7315200" cy="829288"/>
      </dsp:txXfrm>
    </dsp:sp>
    <dsp:sp modelId="{6060CE3F-233E-6E40-AFCA-D174BAFB4890}">
      <dsp:nvSpPr>
        <dsp:cNvPr id="0" name=""/>
        <dsp:cNvSpPr/>
      </dsp:nvSpPr>
      <dsp:spPr>
        <a:xfrm>
          <a:off x="0" y="4976442"/>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8660E9-536F-804C-B47C-9357299B8E98}">
      <dsp:nvSpPr>
        <dsp:cNvPr id="0" name=""/>
        <dsp:cNvSpPr/>
      </dsp:nvSpPr>
      <dsp:spPr>
        <a:xfrm>
          <a:off x="0" y="4976442"/>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Recommendations </a:t>
          </a:r>
        </a:p>
      </dsp:txBody>
      <dsp:txXfrm>
        <a:off x="0" y="4976442"/>
        <a:ext cx="7315200" cy="8292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A2BF5F-3966-4923-AFDB-419BAF1DF192}">
      <dsp:nvSpPr>
        <dsp:cNvPr id="0" name=""/>
        <dsp:cNvSpPr/>
      </dsp:nvSpPr>
      <dsp:spPr>
        <a:xfrm>
          <a:off x="0" y="708"/>
          <a:ext cx="6262777" cy="165857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7010A5-0173-4831-81E3-97973B4381DD}">
      <dsp:nvSpPr>
        <dsp:cNvPr id="0" name=""/>
        <dsp:cNvSpPr/>
      </dsp:nvSpPr>
      <dsp:spPr>
        <a:xfrm>
          <a:off x="501719" y="373888"/>
          <a:ext cx="912217" cy="9122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2E9B68-1A59-448C-9B7E-A928A093A680}">
      <dsp:nvSpPr>
        <dsp:cNvPr id="0" name=""/>
        <dsp:cNvSpPr/>
      </dsp:nvSpPr>
      <dsp:spPr>
        <a:xfrm>
          <a:off x="1915657" y="708"/>
          <a:ext cx="4347119" cy="165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533" tIns="175533" rIns="175533" bIns="175533"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Arial" panose="020B0604020202020204" pitchFamily="34" charset="0"/>
              <a:cs typeface="Arial" panose="020B0604020202020204" pitchFamily="34" charset="0"/>
            </a:rPr>
            <a:t>Implement marketing strategy targeting solo taxi riders and include incentivizing card users as one of the tactics. </a:t>
          </a:r>
        </a:p>
      </dsp:txBody>
      <dsp:txXfrm>
        <a:off x="1915657" y="708"/>
        <a:ext cx="4347119" cy="1658577"/>
      </dsp:txXfrm>
    </dsp:sp>
    <dsp:sp modelId="{E6344981-19F9-457B-B6F3-76091BC50799}">
      <dsp:nvSpPr>
        <dsp:cNvPr id="0" name=""/>
        <dsp:cNvSpPr/>
      </dsp:nvSpPr>
      <dsp:spPr>
        <a:xfrm>
          <a:off x="0" y="2073931"/>
          <a:ext cx="6262777" cy="165857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F809A1-88D6-43B5-ADDC-06F9FBA10AE8}">
      <dsp:nvSpPr>
        <dsp:cNvPr id="0" name=""/>
        <dsp:cNvSpPr/>
      </dsp:nvSpPr>
      <dsp:spPr>
        <a:xfrm>
          <a:off x="501719" y="2447111"/>
          <a:ext cx="912217" cy="9122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3C2030-5D17-4AE5-A533-12629D117D73}">
      <dsp:nvSpPr>
        <dsp:cNvPr id="0" name=""/>
        <dsp:cNvSpPr/>
      </dsp:nvSpPr>
      <dsp:spPr>
        <a:xfrm>
          <a:off x="1915657" y="2073931"/>
          <a:ext cx="4347119" cy="165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533" tIns="175533" rIns="175533" bIns="175533"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Arial" panose="020B0604020202020204" pitchFamily="34" charset="0"/>
              <a:cs typeface="Arial" panose="020B0604020202020204" pitchFamily="34" charset="0"/>
            </a:rPr>
            <a:t>Provide digital discount coupons for the card users taking longer distance trip. </a:t>
          </a:r>
        </a:p>
      </dsp:txBody>
      <dsp:txXfrm>
        <a:off x="1915657" y="2073931"/>
        <a:ext cx="4347119" cy="1658577"/>
      </dsp:txXfrm>
    </dsp:sp>
    <dsp:sp modelId="{A3823E83-FB4A-47FF-BA79-6D0ADC3577BF}">
      <dsp:nvSpPr>
        <dsp:cNvPr id="0" name=""/>
        <dsp:cNvSpPr/>
      </dsp:nvSpPr>
      <dsp:spPr>
        <a:xfrm>
          <a:off x="0" y="4147153"/>
          <a:ext cx="6262777" cy="165857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DBF008-6197-428E-8378-8C7D02721970}">
      <dsp:nvSpPr>
        <dsp:cNvPr id="0" name=""/>
        <dsp:cNvSpPr/>
      </dsp:nvSpPr>
      <dsp:spPr>
        <a:xfrm>
          <a:off x="501719" y="4520333"/>
          <a:ext cx="912217" cy="9122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461377-C7AD-42A8-8D34-A99B0051FBC2}">
      <dsp:nvSpPr>
        <dsp:cNvPr id="0" name=""/>
        <dsp:cNvSpPr/>
      </dsp:nvSpPr>
      <dsp:spPr>
        <a:xfrm>
          <a:off x="1915657" y="4147153"/>
          <a:ext cx="4347119" cy="165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533" tIns="175533" rIns="175533" bIns="175533"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Arial" panose="020B0604020202020204" pitchFamily="34" charset="0"/>
              <a:cs typeface="Arial" panose="020B0604020202020204" pitchFamily="34" charset="0"/>
            </a:rPr>
            <a:t>Provide safe and secure payment method for the card users. </a:t>
          </a:r>
        </a:p>
      </dsp:txBody>
      <dsp:txXfrm>
        <a:off x="1915657" y="4147153"/>
        <a:ext cx="4347119" cy="165857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11/7/25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87563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137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26270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11/7/25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18589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658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15892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04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9726279"/>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11/7/25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62369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11/7/25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12872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4051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92280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4864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445641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4353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11/7/25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2031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11/7/25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8536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11/7/25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787937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11/7/25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946278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14301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11/7/25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92356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08879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11/7/25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3331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11/7/25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106291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11/7/25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499247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074860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11/7/25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11561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11/7/25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817484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11/7/25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053191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303163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771815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982774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11/7/25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68260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11/7/25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636986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11/7/25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8662845"/>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11/7/25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10761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11/7/25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23250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11/7/25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93213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11/7/25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989581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11/7/25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7007328"/>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11/7/25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711443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86267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11/7/25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3151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11/7/25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7858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11/7/25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09811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11/7/25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101110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11/7/25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071440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850598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180322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11/7/25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552629376"/>
      </p:ext>
    </p:extLst>
  </p:cSld>
  <p:clrMap bg1="lt1" tx1="dk1" bg2="lt2" tx2="dk2" accent1="accent1" accent2="accent2" accent3="accent3" accent4="accent4" accent5="accent5" accent6="accent6" hlink="hlink" folHlink="folHlink"/>
  <p:sldLayoutIdLst>
    <p:sldLayoutId id="2147483750"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 id="2147483732" r:id="rId32"/>
    <p:sldLayoutId id="2147483733" r:id="rId33"/>
    <p:sldLayoutId id="2147483734" r:id="rId34"/>
    <p:sldLayoutId id="2147483735" r:id="rId35"/>
    <p:sldLayoutId id="2147483736" r:id="rId36"/>
    <p:sldLayoutId id="2147483749"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 id="2147483745" r:id="rId46"/>
    <p:sldLayoutId id="2147483746" r:id="rId47"/>
    <p:sldLayoutId id="2147483747" r:id="rId48"/>
    <p:sldLayoutId id="2147483748"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DDB2A-EA1F-301A-961E-F7C73BE304F0}"/>
              </a:ext>
            </a:extLst>
          </p:cNvPr>
          <p:cNvSpPr>
            <a:spLocks noGrp="1"/>
          </p:cNvSpPr>
          <p:nvPr>
            <p:ph type="ctrTitle"/>
          </p:nvPr>
        </p:nvSpPr>
        <p:spPr>
          <a:xfrm>
            <a:off x="7168896" y="1129554"/>
            <a:ext cx="4361688" cy="3475236"/>
          </a:xfrm>
        </p:spPr>
        <p:txBody>
          <a:bodyPr anchor="b">
            <a:normAutofit/>
          </a:bodyPr>
          <a:lstStyle/>
          <a:p>
            <a:r>
              <a:rPr lang="en-US" sz="4600" dirty="0">
                <a:latin typeface="Arial" panose="020B0604020202020204" pitchFamily="34" charset="0"/>
                <a:cs typeface="Arial" panose="020B0604020202020204" pitchFamily="34" charset="0"/>
              </a:rPr>
              <a:t>Maximizing Revenue For Drivers- Payment Type</a:t>
            </a:r>
          </a:p>
        </p:txBody>
      </p:sp>
      <p:sp>
        <p:nvSpPr>
          <p:cNvPr id="3" name="Subtitle 2">
            <a:extLst>
              <a:ext uri="{FF2B5EF4-FFF2-40B4-BE49-F238E27FC236}">
                <a16:creationId xmlns:a16="http://schemas.microsoft.com/office/drawing/2014/main" id="{83E89C44-6D20-0E90-962E-8BAC23793066}"/>
              </a:ext>
            </a:extLst>
          </p:cNvPr>
          <p:cNvSpPr>
            <a:spLocks noGrp="1"/>
          </p:cNvSpPr>
          <p:nvPr>
            <p:ph type="subTitle" idx="1"/>
          </p:nvPr>
        </p:nvSpPr>
        <p:spPr>
          <a:xfrm>
            <a:off x="7168897" y="4731335"/>
            <a:ext cx="4206240" cy="1184585"/>
          </a:xfrm>
        </p:spPr>
        <p:txBody>
          <a:bodyPr>
            <a:normAutofit/>
          </a:bodyPr>
          <a:lstStyle/>
          <a:p>
            <a:r>
              <a:rPr lang="en-US" dirty="0">
                <a:latin typeface="Arial" panose="020B0604020202020204" pitchFamily="34" charset="0"/>
                <a:cs typeface="Arial" panose="020B0604020202020204" pitchFamily="34" charset="0"/>
              </a:rPr>
              <a:t>Add a brief explanation of the presentation’s purpose</a:t>
            </a:r>
          </a:p>
        </p:txBody>
      </p:sp>
      <p:pic>
        <p:nvPicPr>
          <p:cNvPr id="10" name="Picture 9" descr="Money and passport">
            <a:extLst>
              <a:ext uri="{FF2B5EF4-FFF2-40B4-BE49-F238E27FC236}">
                <a16:creationId xmlns:a16="http://schemas.microsoft.com/office/drawing/2014/main" id="{6F92B627-0009-ADCB-AAED-9E5CE6BF34F8}"/>
              </a:ext>
            </a:extLst>
          </p:cNvPr>
          <p:cNvPicPr>
            <a:picLocks noChangeAspect="1"/>
          </p:cNvPicPr>
          <p:nvPr/>
        </p:nvPicPr>
        <p:blipFill>
          <a:blip r:embed="rId2"/>
          <a:srcRect l="35871" r="12999"/>
          <a:stretch>
            <a:fillRect/>
          </a:stretch>
        </p:blipFill>
        <p:spPr>
          <a:xfrm>
            <a:off x="20" y="10"/>
            <a:ext cx="6584930" cy="6857990"/>
          </a:xfrm>
          <a:prstGeom prst="rect">
            <a:avLst/>
          </a:prstGeom>
          <a:noFill/>
        </p:spPr>
      </p:pic>
    </p:spTree>
    <p:extLst>
      <p:ext uri="{BB962C8B-B14F-4D97-AF65-F5344CB8AC3E}">
        <p14:creationId xmlns:p14="http://schemas.microsoft.com/office/powerpoint/2010/main" val="1136822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5FA4F-8D27-B519-1603-BE766DA1C02D}"/>
              </a:ext>
            </a:extLst>
          </p:cNvPr>
          <p:cNvSpPr>
            <a:spLocks noGrp="1"/>
          </p:cNvSpPr>
          <p:nvPr>
            <p:ph type="title"/>
          </p:nvPr>
        </p:nvSpPr>
        <p:spPr>
          <a:xfrm>
            <a:off x="372533" y="548639"/>
            <a:ext cx="3494314" cy="5719639"/>
          </a:xfrm>
        </p:spPr>
        <p:txBody>
          <a:bodyPr anchor="t">
            <a:normAutofit/>
          </a:bodyPr>
          <a:lstStyle/>
          <a:p>
            <a:r>
              <a:rPr lang="en-US" sz="3600" dirty="0">
                <a:latin typeface="Arial" panose="020B0604020202020204" pitchFamily="34" charset="0"/>
                <a:cs typeface="Arial" panose="020B0604020202020204" pitchFamily="34" charset="0"/>
              </a:rPr>
              <a:t>Agenda</a:t>
            </a:r>
          </a:p>
        </p:txBody>
      </p:sp>
      <p:graphicFrame>
        <p:nvGraphicFramePr>
          <p:cNvPr id="5" name="Content Placeholder 2">
            <a:extLst>
              <a:ext uri="{FF2B5EF4-FFF2-40B4-BE49-F238E27FC236}">
                <a16:creationId xmlns:a16="http://schemas.microsoft.com/office/drawing/2014/main" id="{4799C261-3C35-16DF-2F91-4ADCAF23B1D6}"/>
              </a:ext>
            </a:extLst>
          </p:cNvPr>
          <p:cNvGraphicFramePr>
            <a:graphicFrameLocks noGrp="1"/>
          </p:cNvGraphicFramePr>
          <p:nvPr>
            <p:ph sz="quarter" idx="13"/>
            <p:extLst>
              <p:ext uri="{D42A27DB-BD31-4B8C-83A1-F6EECF244321}">
                <p14:modId xmlns:p14="http://schemas.microsoft.com/office/powerpoint/2010/main" val="2945127427"/>
              </p:ext>
            </p:extLst>
          </p:nvPr>
        </p:nvGraphicFramePr>
        <p:xfrm>
          <a:off x="4504268" y="549274"/>
          <a:ext cx="7315200" cy="5806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4104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A6C0-44C3-897B-E45E-BAFCA00EB2B3}"/>
              </a:ext>
            </a:extLst>
          </p:cNvPr>
          <p:cNvSpPr>
            <a:spLocks noGrp="1"/>
          </p:cNvSpPr>
          <p:nvPr>
            <p:ph type="title"/>
          </p:nvPr>
        </p:nvSpPr>
        <p:spPr>
          <a:xfrm>
            <a:off x="5538937" y="548640"/>
            <a:ext cx="6093225" cy="1143000"/>
          </a:xfrm>
        </p:spPr>
        <p:txBody>
          <a:bodyPr anchor="b">
            <a:normAutofit/>
          </a:bodyPr>
          <a:lstStyle/>
          <a:p>
            <a:r>
              <a:rPr lang="en-US" dirty="0">
                <a:latin typeface="Arial" panose="020B0604020202020204" pitchFamily="34" charset="0"/>
                <a:cs typeface="Arial" panose="020B0604020202020204" pitchFamily="34" charset="0"/>
              </a:rPr>
              <a:t>Problem Statement</a:t>
            </a:r>
          </a:p>
        </p:txBody>
      </p:sp>
      <p:pic>
        <p:nvPicPr>
          <p:cNvPr id="5" name="Picture 4" descr="A taxi cab sign">
            <a:extLst>
              <a:ext uri="{FF2B5EF4-FFF2-40B4-BE49-F238E27FC236}">
                <a16:creationId xmlns:a16="http://schemas.microsoft.com/office/drawing/2014/main" id="{7A765B26-11BE-0584-550D-609AC81F4355}"/>
              </a:ext>
            </a:extLst>
          </p:cNvPr>
          <p:cNvPicPr>
            <a:picLocks noChangeAspect="1"/>
          </p:cNvPicPr>
          <p:nvPr/>
        </p:nvPicPr>
        <p:blipFill>
          <a:blip r:embed="rId2"/>
          <a:srcRect l="13719" r="39621" b="-2"/>
          <a:stretch>
            <a:fillRect/>
          </a:stretch>
        </p:blipFill>
        <p:spPr>
          <a:xfrm>
            <a:off x="20" y="1"/>
            <a:ext cx="4793865" cy="6858000"/>
          </a:xfrm>
          <a:prstGeom prst="rect">
            <a:avLst/>
          </a:prstGeom>
          <a:noFill/>
        </p:spPr>
      </p:pic>
      <p:sp>
        <p:nvSpPr>
          <p:cNvPr id="3" name="Content Placeholder 2">
            <a:extLst>
              <a:ext uri="{FF2B5EF4-FFF2-40B4-BE49-F238E27FC236}">
                <a16:creationId xmlns:a16="http://schemas.microsoft.com/office/drawing/2014/main" id="{ECE32B41-8A25-3573-0E6D-FB40B6E87534}"/>
              </a:ext>
            </a:extLst>
          </p:cNvPr>
          <p:cNvSpPr>
            <a:spLocks noGrp="1"/>
          </p:cNvSpPr>
          <p:nvPr>
            <p:ph sz="quarter" idx="14"/>
          </p:nvPr>
        </p:nvSpPr>
        <p:spPr>
          <a:xfrm>
            <a:off x="5538937" y="1828800"/>
            <a:ext cx="6071616" cy="4489704"/>
          </a:xfrm>
        </p:spPr>
        <p:txBody>
          <a:bodyPr>
            <a:normAutofit fontScale="92500"/>
          </a:bodyPr>
          <a:lstStyle/>
          <a:p>
            <a:pPr marL="0" indent="0">
              <a:lnSpc>
                <a:spcPct val="110000"/>
              </a:lnSpc>
              <a:buNone/>
            </a:pPr>
            <a:r>
              <a:rPr lang="en-US" sz="2200" dirty="0">
                <a:latin typeface="Arial" panose="020B0604020202020204" pitchFamily="34" charset="0"/>
                <a:cs typeface="Arial" panose="020B0604020202020204" pitchFamily="34" charset="0"/>
              </a:rPr>
              <a:t>In the fast-paced taxi booking sector, </a:t>
            </a:r>
            <a:r>
              <a:rPr lang="en-US" sz="2200" dirty="0" err="1">
                <a:latin typeface="Arial" panose="020B0604020202020204" pitchFamily="34" charset="0"/>
                <a:cs typeface="Arial" panose="020B0604020202020204" pitchFamily="34" charset="0"/>
              </a:rPr>
              <a:t>maximising</a:t>
            </a:r>
            <a:r>
              <a:rPr lang="en-US" sz="2200" dirty="0">
                <a:latin typeface="Arial" panose="020B0604020202020204" pitchFamily="34" charset="0"/>
                <a:cs typeface="Arial" panose="020B0604020202020204" pitchFamily="34" charset="0"/>
              </a:rPr>
              <a:t> revenue is crucial for long-term success and driver satisfaction. </a:t>
            </a:r>
          </a:p>
          <a:p>
            <a:pPr marL="0" indent="0">
              <a:lnSpc>
                <a:spcPct val="110000"/>
              </a:lnSpc>
              <a:buNone/>
            </a:pPr>
            <a:r>
              <a:rPr lang="en-US" sz="2200" dirty="0">
                <a:latin typeface="Arial" panose="020B0604020202020204" pitchFamily="34" charset="0"/>
                <a:cs typeface="Arial" panose="020B0604020202020204" pitchFamily="34" charset="0"/>
              </a:rPr>
              <a:t>Our goal is to use data-driven insight to </a:t>
            </a:r>
            <a:r>
              <a:rPr lang="en-US" sz="2200" dirty="0" err="1">
                <a:latin typeface="Arial" panose="020B0604020202020204" pitchFamily="34" charset="0"/>
                <a:cs typeface="Arial" panose="020B0604020202020204" pitchFamily="34" charset="0"/>
              </a:rPr>
              <a:t>maximise</a:t>
            </a:r>
            <a:r>
              <a:rPr lang="en-US" sz="2200" dirty="0">
                <a:latin typeface="Arial" panose="020B0604020202020204" pitchFamily="34" charset="0"/>
                <a:cs typeface="Arial" panose="020B0604020202020204" pitchFamily="34" charset="0"/>
              </a:rPr>
              <a:t> revenue streams for taxi drivers to meet this need. Our research aims to determine whether payment methods have an impact on fair pricing by focusing on the relationship between </a:t>
            </a:r>
          </a:p>
          <a:p>
            <a:pPr>
              <a:lnSpc>
                <a:spcPct val="110000"/>
              </a:lnSpc>
              <a:buFontTx/>
              <a:buChar char="-"/>
            </a:pPr>
            <a:r>
              <a:rPr lang="en-US" sz="2200" dirty="0">
                <a:latin typeface="Arial" panose="020B0604020202020204" pitchFamily="34" charset="0"/>
                <a:cs typeface="Arial" panose="020B0604020202020204" pitchFamily="34" charset="0"/>
              </a:rPr>
              <a:t>payment type and fare amount</a:t>
            </a:r>
          </a:p>
          <a:p>
            <a:pPr>
              <a:lnSpc>
                <a:spcPct val="110000"/>
              </a:lnSpc>
              <a:buFontTx/>
              <a:buChar char="-"/>
            </a:pPr>
            <a:r>
              <a:rPr lang="en-US" sz="2200" dirty="0">
                <a:latin typeface="Arial" panose="020B0604020202020204" pitchFamily="34" charset="0"/>
                <a:cs typeface="Arial" panose="020B0604020202020204" pitchFamily="34" charset="0"/>
              </a:rPr>
              <a:t>payment type and trip duration (pickup and </a:t>
            </a:r>
            <a:r>
              <a:rPr lang="en-US" sz="2200" dirty="0" err="1">
                <a:latin typeface="Arial" panose="020B0604020202020204" pitchFamily="34" charset="0"/>
                <a:cs typeface="Arial" panose="020B0604020202020204" pitchFamily="34" charset="0"/>
              </a:rPr>
              <a:t>dropoff</a:t>
            </a:r>
            <a:r>
              <a:rPr lang="en-US" sz="2200" dirty="0">
                <a:latin typeface="Arial" panose="020B0604020202020204" pitchFamily="34" charset="0"/>
                <a:cs typeface="Arial" panose="020B0604020202020204" pitchFamily="34" charset="0"/>
              </a:rPr>
              <a:t> time)</a:t>
            </a:r>
          </a:p>
          <a:p>
            <a:pPr>
              <a:lnSpc>
                <a:spcPct val="110000"/>
              </a:lnSpc>
              <a:buFontTx/>
              <a:buChar char="-"/>
            </a:pPr>
            <a:endParaRPr lang="en-US" dirty="0">
              <a:latin typeface="Arial" panose="020B0604020202020204" pitchFamily="34" charset="0"/>
              <a:cs typeface="Arial" panose="020B0604020202020204" pitchFamily="34" charset="0"/>
            </a:endParaRPr>
          </a:p>
          <a:p>
            <a:pPr marL="0" indent="0">
              <a:lnSpc>
                <a:spcPct val="110000"/>
              </a:lnSpc>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0571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920F4-8877-A14D-5AD3-4261F5666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ED6B6-B4F2-D108-3A2D-D016D6830E20}"/>
              </a:ext>
            </a:extLst>
          </p:cNvPr>
          <p:cNvSpPr>
            <a:spLocks noGrp="1"/>
          </p:cNvSpPr>
          <p:nvPr>
            <p:ph type="title"/>
          </p:nvPr>
        </p:nvSpPr>
        <p:spPr>
          <a:xfrm>
            <a:off x="6748272" y="-536448"/>
            <a:ext cx="4663440" cy="1554480"/>
          </a:xfrm>
        </p:spPr>
        <p:txBody>
          <a:bodyPr anchor="b">
            <a:normAutofit/>
          </a:bodyPr>
          <a:lstStyle/>
          <a:p>
            <a:r>
              <a:rPr lang="en-US" sz="3600" dirty="0">
                <a:latin typeface="Arial" panose="020B0604020202020204" pitchFamily="34" charset="0"/>
                <a:cs typeface="Arial" panose="020B0604020202020204" pitchFamily="34" charset="0"/>
              </a:rPr>
              <a:t>Objective</a:t>
            </a:r>
          </a:p>
        </p:txBody>
      </p:sp>
      <p:pic>
        <p:nvPicPr>
          <p:cNvPr id="5" name="Picture 4">
            <a:extLst>
              <a:ext uri="{FF2B5EF4-FFF2-40B4-BE49-F238E27FC236}">
                <a16:creationId xmlns:a16="http://schemas.microsoft.com/office/drawing/2014/main" id="{18E98DEC-490D-B795-D329-7436D9B8E3D7}"/>
              </a:ext>
            </a:extLst>
          </p:cNvPr>
          <p:cNvPicPr>
            <a:picLocks noChangeAspect="1"/>
          </p:cNvPicPr>
          <p:nvPr/>
        </p:nvPicPr>
        <p:blipFill>
          <a:blip r:embed="rId2"/>
          <a:srcRect l="22095" r="27880"/>
          <a:stretch>
            <a:fillRect/>
          </a:stretch>
        </p:blipFill>
        <p:spPr>
          <a:xfrm>
            <a:off x="20" y="10"/>
            <a:ext cx="6099028" cy="6857990"/>
          </a:xfrm>
          <a:prstGeom prst="rect">
            <a:avLst/>
          </a:prstGeom>
          <a:noFill/>
        </p:spPr>
      </p:pic>
      <p:sp>
        <p:nvSpPr>
          <p:cNvPr id="3" name="Content Placeholder 2">
            <a:extLst>
              <a:ext uri="{FF2B5EF4-FFF2-40B4-BE49-F238E27FC236}">
                <a16:creationId xmlns:a16="http://schemas.microsoft.com/office/drawing/2014/main" id="{992D09D5-D682-4A91-AF39-EB9F9C8D7F56}"/>
              </a:ext>
            </a:extLst>
          </p:cNvPr>
          <p:cNvSpPr>
            <a:spLocks noGrp="1"/>
          </p:cNvSpPr>
          <p:nvPr>
            <p:ph sz="quarter" idx="13"/>
          </p:nvPr>
        </p:nvSpPr>
        <p:spPr>
          <a:xfrm>
            <a:off x="6748272" y="1127760"/>
            <a:ext cx="4663440" cy="3337560"/>
          </a:xfrm>
        </p:spPr>
        <p:txBody>
          <a:bodyPr>
            <a:noAutofit/>
          </a:bodyPr>
          <a:lstStyle/>
          <a:p>
            <a:pPr marL="0" indent="0">
              <a:lnSpc>
                <a:spcPct val="110000"/>
              </a:lnSpc>
              <a:buNone/>
            </a:pPr>
            <a:r>
              <a:rPr lang="en-US" dirty="0">
                <a:latin typeface="Arial" panose="020B0604020202020204" pitchFamily="34" charset="0"/>
                <a:cs typeface="Arial" panose="020B0604020202020204" pitchFamily="34" charset="0"/>
              </a:rPr>
              <a:t>This project's main goal is to run an A/B test to examine the relationship between the total fare and the method of payment. We </a:t>
            </a:r>
            <a:r>
              <a:rPr lang="en-US" dirty="0" err="1">
                <a:latin typeface="Arial" panose="020B0604020202020204" pitchFamily="34" charset="0"/>
                <a:cs typeface="Arial" panose="020B0604020202020204" pitchFamily="34" charset="0"/>
              </a:rPr>
              <a:t>utilise</a:t>
            </a:r>
            <a:r>
              <a:rPr lang="en-US" dirty="0">
                <a:latin typeface="Arial" panose="020B0604020202020204" pitchFamily="34" charset="0"/>
                <a:cs typeface="Arial" panose="020B0604020202020204" pitchFamily="34" charset="0"/>
              </a:rPr>
              <a:t> Python's hypothesis testing and descriptive statistics to extract valuable insights that can help taxi drivers increase their revenue. In particular, we want to find out if there is a big difference in the fares for those who pay with credit cards versus those who pay with cash.</a:t>
            </a:r>
          </a:p>
        </p:txBody>
      </p:sp>
    </p:spTree>
    <p:extLst>
      <p:ext uri="{BB962C8B-B14F-4D97-AF65-F5344CB8AC3E}">
        <p14:creationId xmlns:p14="http://schemas.microsoft.com/office/powerpoint/2010/main" val="915031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BD87-7F7F-77C6-74EC-DBDFCACB9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4328F-E781-6300-2982-9469A9FAEDD9}"/>
              </a:ext>
            </a:extLst>
          </p:cNvPr>
          <p:cNvSpPr>
            <a:spLocks noGrp="1"/>
          </p:cNvSpPr>
          <p:nvPr>
            <p:ph type="title"/>
          </p:nvPr>
        </p:nvSpPr>
        <p:spPr>
          <a:xfrm>
            <a:off x="6858000" y="-313944"/>
            <a:ext cx="4663440" cy="1554480"/>
          </a:xfrm>
        </p:spPr>
        <p:txBody>
          <a:bodyPr anchor="b">
            <a:normAutofit/>
          </a:bodyPr>
          <a:lstStyle/>
          <a:p>
            <a:r>
              <a:rPr lang="en-US" sz="3600" dirty="0">
                <a:latin typeface="Arial" panose="020B0604020202020204" pitchFamily="34" charset="0"/>
                <a:cs typeface="Arial" panose="020B0604020202020204" pitchFamily="34" charset="0"/>
              </a:rPr>
              <a:t>Research Question</a:t>
            </a:r>
          </a:p>
        </p:txBody>
      </p:sp>
      <p:pic>
        <p:nvPicPr>
          <p:cNvPr id="5" name="Picture 4">
            <a:extLst>
              <a:ext uri="{FF2B5EF4-FFF2-40B4-BE49-F238E27FC236}">
                <a16:creationId xmlns:a16="http://schemas.microsoft.com/office/drawing/2014/main" id="{9FEF6288-A797-36A4-9AEC-CD972EDDC674}"/>
              </a:ext>
            </a:extLst>
          </p:cNvPr>
          <p:cNvPicPr>
            <a:picLocks noChangeAspect="1"/>
          </p:cNvPicPr>
          <p:nvPr/>
        </p:nvPicPr>
        <p:blipFill>
          <a:blip r:embed="rId2"/>
          <a:srcRect l="14008" r="35967"/>
          <a:stretch>
            <a:fillRect/>
          </a:stretch>
        </p:blipFill>
        <p:spPr>
          <a:xfrm>
            <a:off x="20" y="10"/>
            <a:ext cx="6099028" cy="6857990"/>
          </a:xfrm>
          <a:prstGeom prst="rect">
            <a:avLst/>
          </a:prstGeom>
          <a:noFill/>
        </p:spPr>
      </p:pic>
      <p:sp>
        <p:nvSpPr>
          <p:cNvPr id="3" name="Content Placeholder 2">
            <a:extLst>
              <a:ext uri="{FF2B5EF4-FFF2-40B4-BE49-F238E27FC236}">
                <a16:creationId xmlns:a16="http://schemas.microsoft.com/office/drawing/2014/main" id="{D7F21EB3-6BF9-5E56-5DB9-2A150320EB48}"/>
              </a:ext>
            </a:extLst>
          </p:cNvPr>
          <p:cNvSpPr>
            <a:spLocks noGrp="1"/>
          </p:cNvSpPr>
          <p:nvPr>
            <p:ph sz="quarter" idx="13"/>
          </p:nvPr>
        </p:nvSpPr>
        <p:spPr>
          <a:xfrm>
            <a:off x="6858000" y="1350264"/>
            <a:ext cx="4663440" cy="3337560"/>
          </a:xfrm>
        </p:spPr>
        <p:txBody>
          <a:bodyPr>
            <a:noAutofit/>
          </a:bodyPr>
          <a:lstStyle/>
          <a:p>
            <a:pPr marL="0" indent="0">
              <a:lnSpc>
                <a:spcPct val="110000"/>
              </a:lnSpc>
              <a:buNone/>
            </a:pPr>
            <a:r>
              <a:rPr lang="en-US" b="1" dirty="0">
                <a:latin typeface="Arial" panose="020B0604020202020204" pitchFamily="34" charset="0"/>
                <a:cs typeface="Arial" panose="020B0604020202020204" pitchFamily="34" charset="0"/>
              </a:rPr>
              <a:t>Is there a relationship between total fare amount and payment type?</a:t>
            </a:r>
          </a:p>
          <a:p>
            <a:pPr marL="0" indent="0">
              <a:lnSpc>
                <a:spcPct val="110000"/>
              </a:lnSpc>
              <a:buNone/>
            </a:pPr>
            <a:r>
              <a:rPr lang="en-US" b="1" dirty="0">
                <a:latin typeface="Arial" panose="020B0604020202020204" pitchFamily="34" charset="0"/>
                <a:cs typeface="Arial" panose="020B0604020202020204" pitchFamily="34" charset="0"/>
              </a:rPr>
              <a:t>Is there a relationship between total trip duration and fare amount?</a:t>
            </a:r>
          </a:p>
          <a:p>
            <a:pPr marL="0" indent="0">
              <a:lnSpc>
                <a:spcPct val="110000"/>
              </a:lnSpc>
              <a:buNone/>
            </a:pPr>
            <a:r>
              <a:rPr lang="en-US" dirty="0">
                <a:latin typeface="Arial" panose="020B0604020202020204" pitchFamily="34" charset="0"/>
                <a:cs typeface="Arial" panose="020B0604020202020204" pitchFamily="34" charset="0"/>
              </a:rPr>
              <a:t>Can we move customers towards payment methods that generate higher revenue for drivers, without affecting the CX? </a:t>
            </a:r>
          </a:p>
        </p:txBody>
      </p:sp>
    </p:spTree>
    <p:extLst>
      <p:ext uri="{BB962C8B-B14F-4D97-AF65-F5344CB8AC3E}">
        <p14:creationId xmlns:p14="http://schemas.microsoft.com/office/powerpoint/2010/main" val="3099749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80D98-2B9F-351F-5F56-EFDBBBBD086E}"/>
              </a:ext>
            </a:extLst>
          </p:cNvPr>
          <p:cNvSpPr>
            <a:spLocks noGrp="1"/>
          </p:cNvSpPr>
          <p:nvPr>
            <p:ph type="title"/>
          </p:nvPr>
        </p:nvSpPr>
        <p:spPr>
          <a:xfrm>
            <a:off x="615694" y="-693975"/>
            <a:ext cx="4947713" cy="1527048"/>
          </a:xfrm>
        </p:spPr>
        <p:txBody>
          <a:bodyPr anchor="b">
            <a:normAutofit/>
          </a:bodyPr>
          <a:lstStyle/>
          <a:p>
            <a:r>
              <a:rPr lang="en-US" dirty="0">
                <a:latin typeface="Arial" panose="020B0604020202020204" pitchFamily="34" charset="0"/>
                <a:cs typeface="Arial" panose="020B0604020202020204" pitchFamily="34" charset="0"/>
              </a:rPr>
              <a:t>Data Overview</a:t>
            </a:r>
          </a:p>
        </p:txBody>
      </p:sp>
      <p:sp>
        <p:nvSpPr>
          <p:cNvPr id="3" name="Content Placeholder 2">
            <a:extLst>
              <a:ext uri="{FF2B5EF4-FFF2-40B4-BE49-F238E27FC236}">
                <a16:creationId xmlns:a16="http://schemas.microsoft.com/office/drawing/2014/main" id="{AAEF2F10-C47D-F0E0-6E31-D871D3D59DEB}"/>
              </a:ext>
            </a:extLst>
          </p:cNvPr>
          <p:cNvSpPr>
            <a:spLocks noGrp="1"/>
          </p:cNvSpPr>
          <p:nvPr>
            <p:ph sz="quarter" idx="14"/>
          </p:nvPr>
        </p:nvSpPr>
        <p:spPr>
          <a:xfrm>
            <a:off x="616630" y="1140645"/>
            <a:ext cx="4946777" cy="3029585"/>
          </a:xfrm>
        </p:spPr>
        <p:txBody>
          <a:bodyPr>
            <a:noAutofit/>
          </a:bodyPr>
          <a:lstStyle/>
          <a:p>
            <a:pPr>
              <a:lnSpc>
                <a:spcPct val="110000"/>
              </a:lnSpc>
            </a:pPr>
            <a:r>
              <a:rPr lang="en-US" dirty="0">
                <a:latin typeface="Arial" panose="020B0604020202020204" pitchFamily="34" charset="0"/>
                <a:cs typeface="Arial" panose="020B0604020202020204" pitchFamily="34" charset="0"/>
              </a:rPr>
              <a:t>For this analysis, we utilized the comprehensive dataset of Yellow Taxi Trip records, used data cleaning and feature engineering procedures to concentrate solely on the relevant columns essential for our investigation </a:t>
            </a:r>
          </a:p>
        </p:txBody>
      </p:sp>
      <p:pic>
        <p:nvPicPr>
          <p:cNvPr id="4" name="Picture 3">
            <a:extLst>
              <a:ext uri="{FF2B5EF4-FFF2-40B4-BE49-F238E27FC236}">
                <a16:creationId xmlns:a16="http://schemas.microsoft.com/office/drawing/2014/main" id="{1563E652-F0C7-260C-52C5-444A07FBC40F}"/>
              </a:ext>
            </a:extLst>
          </p:cNvPr>
          <p:cNvPicPr>
            <a:picLocks noChangeAspect="1"/>
          </p:cNvPicPr>
          <p:nvPr/>
        </p:nvPicPr>
        <p:blipFill>
          <a:blip r:embed="rId2"/>
          <a:stretch>
            <a:fillRect/>
          </a:stretch>
        </p:blipFill>
        <p:spPr>
          <a:xfrm>
            <a:off x="1879258" y="4477802"/>
            <a:ext cx="6446520" cy="1982304"/>
          </a:xfrm>
          <a:prstGeom prst="rect">
            <a:avLst/>
          </a:prstGeom>
          <a:noFill/>
        </p:spPr>
      </p:pic>
      <p:sp>
        <p:nvSpPr>
          <p:cNvPr id="5" name="Content Placeholder 2">
            <a:extLst>
              <a:ext uri="{FF2B5EF4-FFF2-40B4-BE49-F238E27FC236}">
                <a16:creationId xmlns:a16="http://schemas.microsoft.com/office/drawing/2014/main" id="{E089F1C8-7A7B-EFC4-A7DF-C1223630B6FE}"/>
              </a:ext>
            </a:extLst>
          </p:cNvPr>
          <p:cNvSpPr txBox="1">
            <a:spLocks/>
          </p:cNvSpPr>
          <p:nvPr/>
        </p:nvSpPr>
        <p:spPr>
          <a:xfrm>
            <a:off x="6067245" y="1140644"/>
            <a:ext cx="4946777" cy="302958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dirty="0">
                <a:latin typeface="Arial" panose="020B0604020202020204" pitchFamily="34" charset="0"/>
                <a:cs typeface="Arial" panose="020B0604020202020204" pitchFamily="34" charset="0"/>
              </a:rPr>
              <a:t>Relevant columns used for this research </a:t>
            </a:r>
          </a:p>
          <a:p>
            <a:pPr marL="0" indent="0">
              <a:lnSpc>
                <a:spcPct val="100000"/>
              </a:lnSpc>
              <a:buFont typeface="Arial" panose="020B0604020202020204" pitchFamily="34" charset="0"/>
              <a:buNone/>
            </a:pPr>
            <a:r>
              <a:rPr lang="en-US" dirty="0" err="1">
                <a:latin typeface="Arial" panose="020B0604020202020204" pitchFamily="34" charset="0"/>
                <a:cs typeface="Arial" panose="020B0604020202020204" pitchFamily="34" charset="0"/>
              </a:rPr>
              <a:t>passenger_count</a:t>
            </a:r>
            <a:r>
              <a:rPr lang="en-US" dirty="0">
                <a:latin typeface="Arial" panose="020B0604020202020204" pitchFamily="34" charset="0"/>
                <a:cs typeface="Arial" panose="020B0604020202020204" pitchFamily="34" charset="0"/>
              </a:rPr>
              <a:t> (1 to 5)</a:t>
            </a:r>
          </a:p>
          <a:p>
            <a:pPr marL="0" indent="0">
              <a:lnSpc>
                <a:spcPct val="100000"/>
              </a:lnSpc>
              <a:buFont typeface="Arial" panose="020B0604020202020204" pitchFamily="34" charset="0"/>
              <a:buNone/>
            </a:pPr>
            <a:r>
              <a:rPr lang="en-US" dirty="0" err="1">
                <a:latin typeface="Arial" panose="020B0604020202020204" pitchFamily="34" charset="0"/>
                <a:cs typeface="Arial" panose="020B0604020202020204" pitchFamily="34" charset="0"/>
              </a:rPr>
              <a:t>payment_type</a:t>
            </a:r>
            <a:r>
              <a:rPr lang="en-US" dirty="0">
                <a:latin typeface="Arial" panose="020B0604020202020204" pitchFamily="34" charset="0"/>
                <a:cs typeface="Arial" panose="020B0604020202020204" pitchFamily="34" charset="0"/>
              </a:rPr>
              <a:t> (card and cash)</a:t>
            </a:r>
          </a:p>
          <a:p>
            <a:pPr marL="0" indent="0">
              <a:lnSpc>
                <a:spcPct val="100000"/>
              </a:lnSpc>
              <a:buFont typeface="Arial" panose="020B0604020202020204" pitchFamily="34" charset="0"/>
              <a:buNone/>
            </a:pPr>
            <a:r>
              <a:rPr lang="en-US" dirty="0">
                <a:latin typeface="Arial" panose="020B0604020202020204" pitchFamily="34" charset="0"/>
                <a:cs typeface="Arial" panose="020B0604020202020204" pitchFamily="34" charset="0"/>
              </a:rPr>
              <a:t>fare-amount</a:t>
            </a:r>
          </a:p>
          <a:p>
            <a:pPr marL="0" indent="0">
              <a:lnSpc>
                <a:spcPct val="100000"/>
              </a:lnSpc>
              <a:buFont typeface="Arial" panose="020B0604020202020204" pitchFamily="34" charset="0"/>
              <a:buNone/>
            </a:pPr>
            <a:r>
              <a:rPr lang="en-US" dirty="0">
                <a:latin typeface="Arial" panose="020B0604020202020204" pitchFamily="34" charset="0"/>
                <a:cs typeface="Arial" panose="020B0604020202020204" pitchFamily="34" charset="0"/>
              </a:rPr>
              <a:t>trip-distance </a:t>
            </a:r>
          </a:p>
          <a:p>
            <a:pPr marL="0" indent="0">
              <a:lnSpc>
                <a:spcPct val="100000"/>
              </a:lnSpc>
              <a:buFont typeface="Arial" panose="020B0604020202020204" pitchFamily="34" charset="0"/>
              <a:buNone/>
            </a:pPr>
            <a:r>
              <a:rPr lang="en-US" dirty="0">
                <a:latin typeface="Arial" panose="020B0604020202020204" pitchFamily="34" charset="0"/>
                <a:cs typeface="Arial" panose="020B0604020202020204" pitchFamily="34" charset="0"/>
              </a:rPr>
              <a:t>duration (min)</a:t>
            </a:r>
          </a:p>
        </p:txBody>
      </p:sp>
    </p:spTree>
    <p:extLst>
      <p:ext uri="{BB962C8B-B14F-4D97-AF65-F5344CB8AC3E}">
        <p14:creationId xmlns:p14="http://schemas.microsoft.com/office/powerpoint/2010/main" val="680821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56C4-E0C9-569D-AE68-57D27B6FC48A}"/>
              </a:ext>
            </a:extLst>
          </p:cNvPr>
          <p:cNvSpPr>
            <a:spLocks noGrp="1"/>
          </p:cNvSpPr>
          <p:nvPr>
            <p:ph type="title"/>
          </p:nvPr>
        </p:nvSpPr>
        <p:spPr>
          <a:xfrm>
            <a:off x="612648" y="548640"/>
            <a:ext cx="10653578" cy="1132258"/>
          </a:xfrm>
        </p:spPr>
        <p:txBody>
          <a:bodyPr anchor="t">
            <a:normAutofit/>
          </a:bodyPr>
          <a:lstStyle/>
          <a:p>
            <a:r>
              <a:rPr lang="en-US" dirty="0">
                <a:latin typeface="Arial" panose="020B0604020202020204" pitchFamily="34" charset="0"/>
                <a:cs typeface="Arial" panose="020B0604020202020204" pitchFamily="34" charset="0"/>
              </a:rPr>
              <a:t>Methodology</a:t>
            </a:r>
          </a:p>
        </p:txBody>
      </p:sp>
      <p:graphicFrame>
        <p:nvGraphicFramePr>
          <p:cNvPr id="4" name="Content Placeholder 3">
            <a:extLst>
              <a:ext uri="{FF2B5EF4-FFF2-40B4-BE49-F238E27FC236}">
                <a16:creationId xmlns:a16="http://schemas.microsoft.com/office/drawing/2014/main" id="{9632CBA5-8D6C-24F7-C933-4A51CDD2ED5F}"/>
              </a:ext>
            </a:extLst>
          </p:cNvPr>
          <p:cNvGraphicFramePr>
            <a:graphicFrameLocks noGrp="1"/>
          </p:cNvGraphicFramePr>
          <p:nvPr>
            <p:ph idx="1"/>
            <p:extLst>
              <p:ext uri="{D42A27DB-BD31-4B8C-83A1-F6EECF244321}">
                <p14:modId xmlns:p14="http://schemas.microsoft.com/office/powerpoint/2010/main" val="4089549312"/>
              </p:ext>
            </p:extLst>
          </p:nvPr>
        </p:nvGraphicFramePr>
        <p:xfrm>
          <a:off x="957654" y="1580495"/>
          <a:ext cx="10248942" cy="4248054"/>
        </p:xfrm>
        <a:graphic>
          <a:graphicData uri="http://schemas.openxmlformats.org/drawingml/2006/table">
            <a:tbl>
              <a:tblPr firstRow="1" bandRow="1">
                <a:tableStyleId>{00A15C55-8517-42AA-B614-E9B94910E393}</a:tableStyleId>
              </a:tblPr>
              <a:tblGrid>
                <a:gridCol w="610672">
                  <a:extLst>
                    <a:ext uri="{9D8B030D-6E8A-4147-A177-3AD203B41FA5}">
                      <a16:colId xmlns:a16="http://schemas.microsoft.com/office/drawing/2014/main" val="1713998215"/>
                    </a:ext>
                  </a:extLst>
                </a:gridCol>
                <a:gridCol w="1779373">
                  <a:extLst>
                    <a:ext uri="{9D8B030D-6E8A-4147-A177-3AD203B41FA5}">
                      <a16:colId xmlns:a16="http://schemas.microsoft.com/office/drawing/2014/main" val="893544561"/>
                    </a:ext>
                  </a:extLst>
                </a:gridCol>
                <a:gridCol w="7858897">
                  <a:extLst>
                    <a:ext uri="{9D8B030D-6E8A-4147-A177-3AD203B41FA5}">
                      <a16:colId xmlns:a16="http://schemas.microsoft.com/office/drawing/2014/main" val="2531911941"/>
                    </a:ext>
                  </a:extLst>
                </a:gridCol>
              </a:tblGrid>
              <a:tr h="378852">
                <a:tc>
                  <a:txBody>
                    <a:bodyPr/>
                    <a:lstStyle/>
                    <a:p>
                      <a:endParaRPr lang="en-US" sz="2000" dirty="0">
                        <a:latin typeface="Arial" panose="020B0604020202020204" pitchFamily="34" charset="0"/>
                        <a:cs typeface="Arial" panose="020B0604020202020204" pitchFamily="34" charset="0"/>
                      </a:endParaRPr>
                    </a:p>
                  </a:txBody>
                  <a:tcPr marL="103331" marR="103331" marT="51666" marB="51666"/>
                </a:tc>
                <a:tc>
                  <a:txBody>
                    <a:bodyPr/>
                    <a:lstStyle/>
                    <a:p>
                      <a:r>
                        <a:rPr lang="en-US" sz="2000" dirty="0">
                          <a:latin typeface="Arial" panose="020B0604020202020204" pitchFamily="34" charset="0"/>
                          <a:cs typeface="Arial" panose="020B0604020202020204" pitchFamily="34" charset="0"/>
                        </a:rPr>
                        <a:t>Step</a:t>
                      </a:r>
                    </a:p>
                  </a:txBody>
                  <a:tcPr marL="103331" marR="103331" marT="51666" marB="51666"/>
                </a:tc>
                <a:tc>
                  <a:txBody>
                    <a:bodyPr/>
                    <a:lstStyle/>
                    <a:p>
                      <a:r>
                        <a:rPr lang="en-US" sz="2000">
                          <a:latin typeface="Arial" panose="020B0604020202020204" pitchFamily="34" charset="0"/>
                          <a:cs typeface="Arial" panose="020B0604020202020204" pitchFamily="34" charset="0"/>
                        </a:rPr>
                        <a:t>Description</a:t>
                      </a:r>
                    </a:p>
                  </a:txBody>
                  <a:tcPr marL="103331" marR="103331" marT="51666" marB="51666"/>
                </a:tc>
                <a:extLst>
                  <a:ext uri="{0D108BD9-81ED-4DB2-BD59-A6C34878D82A}">
                    <a16:rowId xmlns:a16="http://schemas.microsoft.com/office/drawing/2014/main" val="3611370438"/>
                  </a:ext>
                </a:extLst>
              </a:tr>
              <a:tr h="786726">
                <a:tc>
                  <a:txBody>
                    <a:bodyPr/>
                    <a:lstStyle/>
                    <a:p>
                      <a:r>
                        <a:rPr lang="en-US" sz="2000" dirty="0">
                          <a:latin typeface="Arial" panose="020B0604020202020204" pitchFamily="34" charset="0"/>
                          <a:cs typeface="Arial" panose="020B0604020202020204" pitchFamily="34" charset="0"/>
                        </a:rPr>
                        <a:t>1</a:t>
                      </a:r>
                    </a:p>
                  </a:txBody>
                  <a:tcPr marL="103331" marR="103331" marT="51666" marB="51666"/>
                </a:tc>
                <a:tc>
                  <a:txBody>
                    <a:bodyPr/>
                    <a:lstStyle/>
                    <a:p>
                      <a:r>
                        <a:rPr lang="en-US" sz="2000" dirty="0">
                          <a:latin typeface="Arial" panose="020B0604020202020204" pitchFamily="34" charset="0"/>
                          <a:cs typeface="Arial" panose="020B0604020202020204" pitchFamily="34" charset="0"/>
                        </a:rPr>
                        <a:t>Descriptive Analysis</a:t>
                      </a:r>
                    </a:p>
                  </a:txBody>
                  <a:tcPr marL="103331" marR="103331" marT="51666" marB="51666"/>
                </a:tc>
                <a:tc>
                  <a:txBody>
                    <a:bodyPr/>
                    <a:lstStyle/>
                    <a:p>
                      <a:r>
                        <a:rPr lang="en-US" sz="2000" dirty="0">
                          <a:latin typeface="Arial" panose="020B0604020202020204" pitchFamily="34" charset="0"/>
                          <a:cs typeface="Arial" panose="020B0604020202020204" pitchFamily="34" charset="0"/>
                        </a:rPr>
                        <a:t>Performed statistical analysis to summarize key aspects of the data, focusing on fare amount and payment type.</a:t>
                      </a:r>
                    </a:p>
                  </a:txBody>
                  <a:tcPr marL="103331" marR="103331" marT="51666" marB="51666"/>
                </a:tc>
                <a:extLst>
                  <a:ext uri="{0D108BD9-81ED-4DB2-BD59-A6C34878D82A}">
                    <a16:rowId xmlns:a16="http://schemas.microsoft.com/office/drawing/2014/main" val="3183776574"/>
                  </a:ext>
                </a:extLst>
              </a:tr>
              <a:tr h="1012195">
                <a:tc>
                  <a:txBody>
                    <a:bodyPr/>
                    <a:lstStyle/>
                    <a:p>
                      <a:endParaRPr lang="en-US" sz="2000" dirty="0">
                        <a:latin typeface="Arial" panose="020B0604020202020204" pitchFamily="34" charset="0"/>
                        <a:cs typeface="Arial" panose="020B0604020202020204" pitchFamily="34" charset="0"/>
                      </a:endParaRPr>
                    </a:p>
                  </a:txBody>
                  <a:tcPr marL="103331" marR="103331" marT="51666" marB="51666"/>
                </a:tc>
                <a:tc>
                  <a:txBody>
                    <a:bodyPr/>
                    <a:lstStyle/>
                    <a:p>
                      <a:r>
                        <a:rPr lang="en-US" sz="2000" dirty="0">
                          <a:latin typeface="Arial" panose="020B0604020202020204" pitchFamily="34" charset="0"/>
                          <a:cs typeface="Arial" panose="020B0604020202020204" pitchFamily="34" charset="0"/>
                        </a:rPr>
                        <a:t>Hypothesis Testing</a:t>
                      </a:r>
                    </a:p>
                  </a:txBody>
                  <a:tcPr marL="103331" marR="103331" marT="51666" marB="51666"/>
                </a:tc>
                <a:tc>
                  <a:txBody>
                    <a:bodyPr/>
                    <a:lstStyle/>
                    <a:p>
                      <a:r>
                        <a:rPr lang="en-US" sz="2000" dirty="0">
                          <a:latin typeface="Arial" panose="020B0604020202020204" pitchFamily="34" charset="0"/>
                          <a:cs typeface="Arial" panose="020B0604020202020204" pitchFamily="34" charset="0"/>
                        </a:rPr>
                        <a:t>Conducted a T-test to evaluate the relationship between payment type and fare amount, testing hypothesis that different payment methods influence fare amounts. </a:t>
                      </a:r>
                    </a:p>
                  </a:txBody>
                  <a:tcPr marL="103331" marR="103331" marT="51666" marB="51666"/>
                </a:tc>
                <a:extLst>
                  <a:ext uri="{0D108BD9-81ED-4DB2-BD59-A6C34878D82A}">
                    <a16:rowId xmlns:a16="http://schemas.microsoft.com/office/drawing/2014/main" val="12847905"/>
                  </a:ext>
                </a:extLst>
              </a:tr>
              <a:tr h="1012195">
                <a:tc>
                  <a:txBody>
                    <a:bodyPr/>
                    <a:lstStyle/>
                    <a:p>
                      <a:r>
                        <a:rPr lang="en-US" sz="2000" dirty="0">
                          <a:latin typeface="Arial" panose="020B0604020202020204" pitchFamily="34" charset="0"/>
                          <a:cs typeface="Arial" panose="020B0604020202020204" pitchFamily="34" charset="0"/>
                        </a:rPr>
                        <a:t>2</a:t>
                      </a:r>
                    </a:p>
                  </a:txBody>
                  <a:tcPr marL="103331" marR="103331" marT="51666" marB="51666"/>
                </a:tc>
                <a:tc>
                  <a:txBody>
                    <a:bodyPr/>
                    <a:lstStyle/>
                    <a:p>
                      <a:r>
                        <a:rPr lang="en-US" sz="2000" dirty="0">
                          <a:latin typeface="Arial" panose="020B0604020202020204" pitchFamily="34" charset="0"/>
                          <a:cs typeface="Arial" panose="020B0604020202020204" pitchFamily="34" charset="0"/>
                        </a:rPr>
                        <a:t>Regression Analysis</a:t>
                      </a:r>
                    </a:p>
                  </a:txBody>
                  <a:tcPr marL="103331" marR="103331" marT="51666" marB="51666"/>
                </a:tc>
                <a:tc>
                  <a:txBody>
                    <a:bodyPr/>
                    <a:lstStyle/>
                    <a:p>
                      <a:r>
                        <a:rPr lang="en-US" sz="2000" dirty="0">
                          <a:latin typeface="Arial" panose="020B0604020202020204" pitchFamily="34" charset="0"/>
                          <a:cs typeface="Arial" panose="020B0604020202020204" pitchFamily="34" charset="0"/>
                        </a:rPr>
                        <a:t>Implemented linear regression to explore the relationship between trip duration( calculated from pickup and drop-off times) and fare amount. </a:t>
                      </a:r>
                    </a:p>
                  </a:txBody>
                  <a:tcPr marL="103331" marR="103331" marT="51666" marB="51666"/>
                </a:tc>
                <a:extLst>
                  <a:ext uri="{0D108BD9-81ED-4DB2-BD59-A6C34878D82A}">
                    <a16:rowId xmlns:a16="http://schemas.microsoft.com/office/drawing/2014/main" val="1791042852"/>
                  </a:ext>
                </a:extLst>
              </a:tr>
              <a:tr h="1012195">
                <a:tc>
                  <a:txBody>
                    <a:bodyPr/>
                    <a:lstStyle/>
                    <a:p>
                      <a:endParaRPr lang="en-US" sz="2000" dirty="0">
                        <a:latin typeface="Arial" panose="020B0604020202020204" pitchFamily="34" charset="0"/>
                        <a:cs typeface="Arial" panose="020B0604020202020204" pitchFamily="34" charset="0"/>
                      </a:endParaRPr>
                    </a:p>
                  </a:txBody>
                  <a:tcPr marL="103331" marR="103331" marT="51666" marB="51666"/>
                </a:tc>
                <a:tc>
                  <a:txBody>
                    <a:bodyPr/>
                    <a:lstStyle/>
                    <a:p>
                      <a:r>
                        <a:rPr lang="en-US" sz="2000" dirty="0">
                          <a:latin typeface="Arial" panose="020B0604020202020204" pitchFamily="34" charset="0"/>
                          <a:cs typeface="Arial" panose="020B0604020202020204" pitchFamily="34" charset="0"/>
                        </a:rPr>
                        <a:t>Hypothesis Testing</a:t>
                      </a:r>
                    </a:p>
                  </a:txBody>
                  <a:tcPr marL="103331" marR="103331" marT="51666" marB="5166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Conducted regression analysis to evaluate the relationship between trip duration and fare amount, testing hypothesis that longer the trip duration will have high fare amount. </a:t>
                      </a:r>
                    </a:p>
                  </a:txBody>
                  <a:tcPr marL="103331" marR="103331" marT="51666" marB="51666"/>
                </a:tc>
                <a:extLst>
                  <a:ext uri="{0D108BD9-81ED-4DB2-BD59-A6C34878D82A}">
                    <a16:rowId xmlns:a16="http://schemas.microsoft.com/office/drawing/2014/main" val="2651328546"/>
                  </a:ext>
                </a:extLst>
              </a:tr>
            </a:tbl>
          </a:graphicData>
        </a:graphic>
      </p:graphicFrame>
    </p:spTree>
    <p:extLst>
      <p:ext uri="{BB962C8B-B14F-4D97-AF65-F5344CB8AC3E}">
        <p14:creationId xmlns:p14="http://schemas.microsoft.com/office/powerpoint/2010/main" val="326372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A400-5B49-5DD8-BED0-4D471C9E41B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Journey Insight</a:t>
            </a:r>
          </a:p>
        </p:txBody>
      </p:sp>
      <p:pic>
        <p:nvPicPr>
          <p:cNvPr id="6" name="Content Placeholder 5">
            <a:extLst>
              <a:ext uri="{FF2B5EF4-FFF2-40B4-BE49-F238E27FC236}">
                <a16:creationId xmlns:a16="http://schemas.microsoft.com/office/drawing/2014/main" id="{BBE8075B-2E61-0D8D-04A4-991B6A19BAEC}"/>
              </a:ext>
            </a:extLst>
          </p:cNvPr>
          <p:cNvPicPr>
            <a:picLocks noGrp="1" noChangeAspect="1"/>
          </p:cNvPicPr>
          <p:nvPr>
            <p:ph idx="1"/>
          </p:nvPr>
        </p:nvPicPr>
        <p:blipFill>
          <a:blip r:embed="rId2"/>
          <a:stretch>
            <a:fillRect/>
          </a:stretch>
        </p:blipFill>
        <p:spPr>
          <a:xfrm>
            <a:off x="7497598" y="3429000"/>
            <a:ext cx="4559300" cy="2057400"/>
          </a:xfrm>
          <a:prstGeom prst="rect">
            <a:avLst/>
          </a:prstGeom>
        </p:spPr>
      </p:pic>
      <p:pic>
        <p:nvPicPr>
          <p:cNvPr id="4" name="Picture 3">
            <a:extLst>
              <a:ext uri="{FF2B5EF4-FFF2-40B4-BE49-F238E27FC236}">
                <a16:creationId xmlns:a16="http://schemas.microsoft.com/office/drawing/2014/main" id="{F60F6C62-1E88-E4D8-F7CD-895953DEB0F9}"/>
              </a:ext>
            </a:extLst>
          </p:cNvPr>
          <p:cNvPicPr>
            <a:picLocks noChangeAspect="1"/>
          </p:cNvPicPr>
          <p:nvPr/>
        </p:nvPicPr>
        <p:blipFill>
          <a:blip r:embed="rId3"/>
          <a:stretch>
            <a:fillRect/>
          </a:stretch>
        </p:blipFill>
        <p:spPr>
          <a:xfrm>
            <a:off x="378371" y="3220760"/>
            <a:ext cx="3653659" cy="2875900"/>
          </a:xfrm>
          <a:prstGeom prst="rect">
            <a:avLst/>
          </a:prstGeom>
        </p:spPr>
      </p:pic>
      <p:pic>
        <p:nvPicPr>
          <p:cNvPr id="5" name="Picture 4">
            <a:extLst>
              <a:ext uri="{FF2B5EF4-FFF2-40B4-BE49-F238E27FC236}">
                <a16:creationId xmlns:a16="http://schemas.microsoft.com/office/drawing/2014/main" id="{27352727-217B-1FDF-3690-DC469B513522}"/>
              </a:ext>
            </a:extLst>
          </p:cNvPr>
          <p:cNvPicPr>
            <a:picLocks noChangeAspect="1"/>
          </p:cNvPicPr>
          <p:nvPr/>
        </p:nvPicPr>
        <p:blipFill>
          <a:blip r:embed="rId4"/>
          <a:stretch>
            <a:fillRect/>
          </a:stretch>
        </p:blipFill>
        <p:spPr>
          <a:xfrm>
            <a:off x="3832115" y="3125185"/>
            <a:ext cx="3733800" cy="3067050"/>
          </a:xfrm>
          <a:prstGeom prst="rect">
            <a:avLst/>
          </a:prstGeom>
        </p:spPr>
      </p:pic>
      <p:sp>
        <p:nvSpPr>
          <p:cNvPr id="9" name="TextBox 8">
            <a:extLst>
              <a:ext uri="{FF2B5EF4-FFF2-40B4-BE49-F238E27FC236}">
                <a16:creationId xmlns:a16="http://schemas.microsoft.com/office/drawing/2014/main" id="{DFC7A3AA-6E3C-FF92-A0D6-70C4B0929252}"/>
              </a:ext>
            </a:extLst>
          </p:cNvPr>
          <p:cNvSpPr txBox="1"/>
          <p:nvPr/>
        </p:nvSpPr>
        <p:spPr>
          <a:xfrm>
            <a:off x="612648" y="1245477"/>
            <a:ext cx="10966704" cy="1600438"/>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Consumers paying with card tend to have higher fare amount and longer trip distance as compared to consumers paying with cash. </a:t>
            </a:r>
          </a:p>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This indicates consumers prefer card usage for longer distance and higher fare. </a:t>
            </a:r>
          </a:p>
          <a:p>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687381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C1BA3-3A40-64CC-F2CB-C8D45C3C6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E82B5-B35F-B74F-A2F3-02635273096D}"/>
              </a:ext>
            </a:extLst>
          </p:cNvPr>
          <p:cNvSpPr>
            <a:spLocks noGrp="1"/>
          </p:cNvSpPr>
          <p:nvPr>
            <p:ph type="title"/>
          </p:nvPr>
        </p:nvSpPr>
        <p:spPr>
          <a:xfrm>
            <a:off x="612648" y="583413"/>
            <a:ext cx="4149132" cy="865825"/>
          </a:xfrm>
        </p:spPr>
        <p:txBody>
          <a:bodyPr anchor="b">
            <a:normAutofit/>
          </a:bodyPr>
          <a:lstStyle/>
          <a:p>
            <a:r>
              <a:rPr lang="en-US" sz="3600" dirty="0">
                <a:latin typeface="Arial" panose="020B0604020202020204" pitchFamily="34" charset="0"/>
                <a:cs typeface="Arial" panose="020B0604020202020204" pitchFamily="34" charset="0"/>
              </a:rPr>
              <a:t>Journey Insight</a:t>
            </a:r>
          </a:p>
        </p:txBody>
      </p:sp>
      <p:sp>
        <p:nvSpPr>
          <p:cNvPr id="9" name="Content Placeholder 8">
            <a:extLst>
              <a:ext uri="{FF2B5EF4-FFF2-40B4-BE49-F238E27FC236}">
                <a16:creationId xmlns:a16="http://schemas.microsoft.com/office/drawing/2014/main" id="{9808D408-870D-12E8-12AE-97C309937DC3}"/>
              </a:ext>
            </a:extLst>
          </p:cNvPr>
          <p:cNvSpPr>
            <a:spLocks noGrp="1"/>
          </p:cNvSpPr>
          <p:nvPr>
            <p:ph sz="quarter" idx="14"/>
          </p:nvPr>
        </p:nvSpPr>
        <p:spPr>
          <a:xfrm>
            <a:off x="612775" y="2212975"/>
            <a:ext cx="3401568" cy="4095750"/>
          </a:xfrm>
        </p:spPr>
        <p:txBody>
          <a:bodyPr>
            <a:normAutofit lnSpcReduction="10000"/>
          </a:bodyPr>
          <a:lstStyle/>
          <a:p>
            <a:pPr>
              <a:lnSpc>
                <a:spcPct val="110000"/>
              </a:lnSpc>
            </a:pPr>
            <a:r>
              <a:rPr lang="en-US" dirty="0">
                <a:latin typeface="Arial" panose="020B0604020202020204" pitchFamily="34" charset="0"/>
                <a:cs typeface="Arial" panose="020B0604020202020204" pitchFamily="34" charset="0"/>
              </a:rPr>
              <a:t>The proportion of consumers paying with card is significantly higher i.e. 65% as compared to paying with cash i.e. 40%. </a:t>
            </a:r>
          </a:p>
          <a:p>
            <a:pPr>
              <a:lnSpc>
                <a:spcPct val="110000"/>
              </a:lnSpc>
            </a:pPr>
            <a:r>
              <a:rPr lang="en-US" dirty="0">
                <a:latin typeface="Arial" panose="020B0604020202020204" pitchFamily="34" charset="0"/>
                <a:cs typeface="Arial" panose="020B0604020202020204" pitchFamily="34" charset="0"/>
              </a:rPr>
              <a:t>This indicated consumers prefer card over cash due to use now pay later payment mode, incentivize card payment with some cashback and discounts. </a:t>
            </a:r>
          </a:p>
          <a:p>
            <a:pPr>
              <a:lnSpc>
                <a:spcPct val="110000"/>
              </a:lnSpc>
            </a:pPr>
            <a:endParaRPr lang="en-US" sz="19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421D450-A0FF-49FB-F439-B7B48D18AD53}"/>
              </a:ext>
            </a:extLst>
          </p:cNvPr>
          <p:cNvPicPr>
            <a:picLocks noChangeAspect="1"/>
          </p:cNvPicPr>
          <p:nvPr/>
        </p:nvPicPr>
        <p:blipFill>
          <a:blip r:embed="rId2"/>
          <a:stretch>
            <a:fillRect/>
          </a:stretch>
        </p:blipFill>
        <p:spPr>
          <a:xfrm>
            <a:off x="4761780" y="299021"/>
            <a:ext cx="7430219" cy="6259958"/>
          </a:xfrm>
          <a:prstGeom prst="rect">
            <a:avLst/>
          </a:prstGeom>
          <a:noFill/>
        </p:spPr>
      </p:pic>
    </p:spTree>
    <p:extLst>
      <p:ext uri="{BB962C8B-B14F-4D97-AF65-F5344CB8AC3E}">
        <p14:creationId xmlns:p14="http://schemas.microsoft.com/office/powerpoint/2010/main" val="1009628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60114-3C7F-BD01-1669-064078F02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F1895-0982-DBB1-C781-8E824A542212}"/>
              </a:ext>
            </a:extLst>
          </p:cNvPr>
          <p:cNvSpPr>
            <a:spLocks noGrp="1"/>
          </p:cNvSpPr>
          <p:nvPr>
            <p:ph type="title"/>
          </p:nvPr>
        </p:nvSpPr>
        <p:spPr>
          <a:xfrm>
            <a:off x="612647" y="320040"/>
            <a:ext cx="6305737" cy="932688"/>
          </a:xfrm>
        </p:spPr>
        <p:txBody>
          <a:bodyPr anchor="b">
            <a:noAutofit/>
          </a:bodyPr>
          <a:lstStyle/>
          <a:p>
            <a:r>
              <a:rPr lang="en-US" sz="3600" dirty="0">
                <a:latin typeface="Arial" panose="020B0604020202020204" pitchFamily="34" charset="0"/>
                <a:cs typeface="Arial" panose="020B0604020202020204" pitchFamily="34" charset="0"/>
              </a:rPr>
              <a:t>Passenger count analysis </a:t>
            </a:r>
          </a:p>
        </p:txBody>
      </p:sp>
      <p:sp>
        <p:nvSpPr>
          <p:cNvPr id="9" name="Content Placeholder 8">
            <a:extLst>
              <a:ext uri="{FF2B5EF4-FFF2-40B4-BE49-F238E27FC236}">
                <a16:creationId xmlns:a16="http://schemas.microsoft.com/office/drawing/2014/main" id="{218841F5-27D7-C054-A542-89AFDFA436DD}"/>
              </a:ext>
            </a:extLst>
          </p:cNvPr>
          <p:cNvSpPr>
            <a:spLocks noGrp="1"/>
          </p:cNvSpPr>
          <p:nvPr>
            <p:ph sz="quarter" idx="14"/>
          </p:nvPr>
        </p:nvSpPr>
        <p:spPr>
          <a:xfrm>
            <a:off x="612773" y="1380744"/>
            <a:ext cx="5977807" cy="3947160"/>
          </a:xfrm>
        </p:spPr>
        <p:txBody>
          <a:bodyPr>
            <a:noAutofit/>
          </a:bodyPr>
          <a:lstStyle/>
          <a:p>
            <a:pPr>
              <a:lnSpc>
                <a:spcPct val="110000"/>
              </a:lnSpc>
            </a:pPr>
            <a:r>
              <a:rPr lang="en-US" dirty="0">
                <a:latin typeface="Arial" panose="020B0604020202020204" pitchFamily="34" charset="0"/>
                <a:cs typeface="Arial" panose="020B0604020202020204" pitchFamily="34" charset="0"/>
              </a:rPr>
              <a:t>Consumers tend to use card more when they travel alone as compared to cash. </a:t>
            </a:r>
          </a:p>
          <a:p>
            <a:pPr>
              <a:lnSpc>
                <a:spcPct val="110000"/>
              </a:lnSpc>
            </a:pPr>
            <a:r>
              <a:rPr lang="en-US" dirty="0">
                <a:latin typeface="Arial" panose="020B0604020202020204" pitchFamily="34" charset="0"/>
                <a:cs typeface="Arial" panose="020B0604020202020204" pitchFamily="34" charset="0"/>
              </a:rPr>
              <a:t>Cash payment helps when the consumers are travelling in group for pay now then later</a:t>
            </a:r>
          </a:p>
          <a:p>
            <a:pPr>
              <a:lnSpc>
                <a:spcPct val="110000"/>
              </a:lnSpc>
            </a:pPr>
            <a:r>
              <a:rPr lang="en-US" dirty="0">
                <a:latin typeface="Arial" panose="020B0604020202020204" pitchFamily="34" charset="0"/>
                <a:cs typeface="Arial" panose="020B0604020202020204" pitchFamily="34" charset="0"/>
              </a:rPr>
              <a:t>There is a noticeable decline in the proportion of transactions as the number of passengers increases, this indicates that either larger groups are using less taxi rides or they are using some alternative payment methods other than card and cash </a:t>
            </a:r>
          </a:p>
          <a:p>
            <a:pPr>
              <a:lnSpc>
                <a:spcPct val="110000"/>
              </a:lnSpc>
            </a:pPr>
            <a:r>
              <a:rPr lang="en-US" dirty="0">
                <a:latin typeface="Arial" panose="020B0604020202020204" pitchFamily="34" charset="0"/>
                <a:cs typeface="Arial" panose="020B0604020202020204" pitchFamily="34" charset="0"/>
              </a:rPr>
              <a:t>This insight provide valuable information if both passenger count and payment type is considered when analysing transaction data as they provide insights into consumers behavior and preference.</a:t>
            </a:r>
          </a:p>
        </p:txBody>
      </p:sp>
      <p:pic>
        <p:nvPicPr>
          <p:cNvPr id="4" name="Picture 3">
            <a:extLst>
              <a:ext uri="{FF2B5EF4-FFF2-40B4-BE49-F238E27FC236}">
                <a16:creationId xmlns:a16="http://schemas.microsoft.com/office/drawing/2014/main" id="{B6FCFC10-59DC-5D9D-CBFF-7373F287732C}"/>
              </a:ext>
            </a:extLst>
          </p:cNvPr>
          <p:cNvPicPr>
            <a:picLocks noChangeAspect="1"/>
          </p:cNvPicPr>
          <p:nvPr/>
        </p:nvPicPr>
        <p:blipFill>
          <a:blip r:embed="rId2"/>
          <a:stretch>
            <a:fillRect/>
          </a:stretch>
        </p:blipFill>
        <p:spPr>
          <a:xfrm>
            <a:off x="6711351" y="1272217"/>
            <a:ext cx="5480648" cy="4313566"/>
          </a:xfrm>
          <a:prstGeom prst="rect">
            <a:avLst/>
          </a:prstGeom>
          <a:noFill/>
        </p:spPr>
      </p:pic>
    </p:spTree>
    <p:extLst>
      <p:ext uri="{BB962C8B-B14F-4D97-AF65-F5344CB8AC3E}">
        <p14:creationId xmlns:p14="http://schemas.microsoft.com/office/powerpoint/2010/main" val="713659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35E30-8C4E-137F-A0CA-6BABD3FC4905}"/>
              </a:ext>
            </a:extLst>
          </p:cNvPr>
          <p:cNvSpPr>
            <a:spLocks noGrp="1"/>
          </p:cNvSpPr>
          <p:nvPr>
            <p:ph type="ctrTitle"/>
          </p:nvPr>
        </p:nvSpPr>
        <p:spPr>
          <a:xfrm>
            <a:off x="711200" y="3429000"/>
            <a:ext cx="10947400" cy="2621154"/>
          </a:xfrm>
        </p:spPr>
        <p:txBody>
          <a:bodyPr>
            <a:normAutofit fontScale="90000"/>
          </a:bodyPr>
          <a:lstStyle/>
          <a:p>
            <a:pPr marL="0" indent="0">
              <a:lnSpc>
                <a:spcPct val="110000"/>
              </a:lnSpc>
            </a:pP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Is there a relationship between total trip duration and fare amount?</a:t>
            </a:r>
            <a:br>
              <a:rPr lang="en-US" dirty="0">
                <a:latin typeface="Arial" panose="020B0604020202020204" pitchFamily="34" charset="0"/>
                <a:cs typeface="Arial" panose="020B0604020202020204" pitchFamily="34" charset="0"/>
              </a:rPr>
            </a:br>
            <a:endParaRPr lang="en-US" dirty="0"/>
          </a:p>
        </p:txBody>
      </p:sp>
    </p:spTree>
    <p:extLst>
      <p:ext uri="{BB962C8B-B14F-4D97-AF65-F5344CB8AC3E}">
        <p14:creationId xmlns:p14="http://schemas.microsoft.com/office/powerpoint/2010/main" val="1072311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B3A63-16A3-8132-1C5E-03775A97B621}"/>
              </a:ext>
            </a:extLst>
          </p:cNvPr>
          <p:cNvSpPr>
            <a:spLocks noGrp="1"/>
          </p:cNvSpPr>
          <p:nvPr>
            <p:ph type="title"/>
          </p:nvPr>
        </p:nvSpPr>
        <p:spPr>
          <a:xfrm>
            <a:off x="612775" y="-89687"/>
            <a:ext cx="4860924" cy="1527048"/>
          </a:xfrm>
        </p:spPr>
        <p:txBody>
          <a:bodyPr anchor="b">
            <a:normAutofit/>
          </a:bodyPr>
          <a:lstStyle/>
          <a:p>
            <a:r>
              <a:rPr lang="en-US" dirty="0">
                <a:latin typeface="Arial" panose="020B0604020202020204" pitchFamily="34" charset="0"/>
                <a:cs typeface="Arial" panose="020B0604020202020204" pitchFamily="34" charset="0"/>
              </a:rPr>
              <a:t>Hypothesis Testing</a:t>
            </a:r>
          </a:p>
        </p:txBody>
      </p:sp>
      <p:sp>
        <p:nvSpPr>
          <p:cNvPr id="3" name="Content Placeholder 2">
            <a:extLst>
              <a:ext uri="{FF2B5EF4-FFF2-40B4-BE49-F238E27FC236}">
                <a16:creationId xmlns:a16="http://schemas.microsoft.com/office/drawing/2014/main" id="{926D3F99-1A3F-3584-165D-544484A1AC37}"/>
              </a:ext>
            </a:extLst>
          </p:cNvPr>
          <p:cNvSpPr>
            <a:spLocks noGrp="1"/>
          </p:cNvSpPr>
          <p:nvPr>
            <p:ph sz="quarter" idx="14"/>
          </p:nvPr>
        </p:nvSpPr>
        <p:spPr>
          <a:xfrm>
            <a:off x="612774" y="1590675"/>
            <a:ext cx="4860925" cy="4095750"/>
          </a:xfrm>
        </p:spPr>
        <p:txBody>
          <a:bodyPr>
            <a:normAutofit fontScale="62500" lnSpcReduction="20000"/>
          </a:bodyPr>
          <a:lstStyle/>
          <a:p>
            <a:pPr marL="0" indent="0">
              <a:buNone/>
            </a:pPr>
            <a:r>
              <a:rPr lang="en-US" sz="3200" b="1" dirty="0">
                <a:latin typeface="Arial" panose="020B0604020202020204" pitchFamily="34" charset="0"/>
                <a:cs typeface="Arial" panose="020B0604020202020204" pitchFamily="34" charset="0"/>
              </a:rPr>
              <a:t>Null Hypothesis: </a:t>
            </a:r>
            <a:r>
              <a:rPr lang="en-US" sz="3200" dirty="0">
                <a:latin typeface="Arial" panose="020B0604020202020204" pitchFamily="34" charset="0"/>
                <a:cs typeface="Arial" panose="020B0604020202020204" pitchFamily="34" charset="0"/>
              </a:rPr>
              <a:t>There</a:t>
            </a:r>
            <a:r>
              <a:rPr lang="en-US" sz="3200" b="1" dirty="0">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is no difference in the average fare between customers who pay with a credit card or cash</a:t>
            </a:r>
          </a:p>
          <a:p>
            <a:pPr marL="0" indent="0">
              <a:buNone/>
            </a:pPr>
            <a:r>
              <a:rPr lang="en-US" sz="3200" b="1" dirty="0">
                <a:latin typeface="Arial" panose="020B0604020202020204" pitchFamily="34" charset="0"/>
                <a:cs typeface="Arial" panose="020B0604020202020204" pitchFamily="34" charset="0"/>
              </a:rPr>
              <a:t>Alternative Hypothesis: </a:t>
            </a:r>
            <a:r>
              <a:rPr lang="en-US" sz="3200" dirty="0">
                <a:latin typeface="Arial" panose="020B0604020202020204" pitchFamily="34" charset="0"/>
                <a:cs typeface="Arial" panose="020B0604020202020204" pitchFamily="34" charset="0"/>
              </a:rPr>
              <a:t>There is a difference in the average fare between customers who pay with a credit card or cash</a:t>
            </a:r>
          </a:p>
          <a:p>
            <a:pPr marL="0" indent="0">
              <a:buNone/>
            </a:pPr>
            <a:r>
              <a:rPr lang="en-US" sz="3200" dirty="0">
                <a:latin typeface="Arial" panose="020B0604020202020204" pitchFamily="34" charset="0"/>
                <a:cs typeface="Arial" panose="020B0604020202020204" pitchFamily="34" charset="0"/>
              </a:rPr>
              <a:t>With a T-statistics of 165.5 and a P-value of less than 0.05, we reject null hypothesis, suggesting there is indeed a significant difference in average fare between the two payment methods. </a:t>
            </a:r>
          </a:p>
          <a:p>
            <a:pPr marL="0" indent="0">
              <a:buNone/>
            </a:pP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F167348-6ECB-FB28-CAED-B24919DB417C}"/>
              </a:ext>
            </a:extLst>
          </p:cNvPr>
          <p:cNvPicPr>
            <a:picLocks noChangeAspect="1"/>
          </p:cNvPicPr>
          <p:nvPr/>
        </p:nvPicPr>
        <p:blipFill>
          <a:blip r:embed="rId2"/>
          <a:srcRect l="12583" r="34542"/>
          <a:stretch>
            <a:fillRect/>
          </a:stretch>
        </p:blipFill>
        <p:spPr>
          <a:xfrm>
            <a:off x="5745480" y="10"/>
            <a:ext cx="6446520" cy="6857990"/>
          </a:xfrm>
          <a:prstGeom prst="rect">
            <a:avLst/>
          </a:prstGeom>
          <a:noFill/>
        </p:spPr>
      </p:pic>
    </p:spTree>
    <p:extLst>
      <p:ext uri="{BB962C8B-B14F-4D97-AF65-F5344CB8AC3E}">
        <p14:creationId xmlns:p14="http://schemas.microsoft.com/office/powerpoint/2010/main" val="2010819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698A6-6273-B56A-CFE2-5C68A5390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437B4-5E7E-715A-F193-53D16AE99CE3}"/>
              </a:ext>
            </a:extLst>
          </p:cNvPr>
          <p:cNvSpPr>
            <a:spLocks noGrp="1"/>
          </p:cNvSpPr>
          <p:nvPr>
            <p:ph type="ctrTitle"/>
          </p:nvPr>
        </p:nvSpPr>
        <p:spPr>
          <a:xfrm>
            <a:off x="863600" y="4010702"/>
            <a:ext cx="10591800" cy="2621154"/>
          </a:xfrm>
        </p:spPr>
        <p:txBody>
          <a:bodyPr>
            <a:normAutofit fontScale="90000"/>
          </a:bodyPr>
          <a:lstStyle/>
          <a:p>
            <a:pPr marL="0" indent="0">
              <a:lnSpc>
                <a:spcPct val="110000"/>
              </a:lnSpc>
            </a:pPr>
            <a:r>
              <a:rPr lang="en-US" dirty="0">
                <a:latin typeface="Arial" panose="020B0604020202020204" pitchFamily="34" charset="0"/>
                <a:cs typeface="Arial" panose="020B0604020202020204" pitchFamily="34" charset="0"/>
              </a:rPr>
              <a:t>Is there a relationship between total fare amount and payment type?</a:t>
            </a:r>
            <a:br>
              <a:rPr lang="en-US" dirty="0">
                <a:latin typeface="Arial" panose="020B0604020202020204" pitchFamily="34" charset="0"/>
                <a:cs typeface="Arial" panose="020B0604020202020204" pitchFamily="34" charset="0"/>
              </a:rPr>
            </a:br>
            <a:endParaRPr lang="en-US" dirty="0"/>
          </a:p>
        </p:txBody>
      </p:sp>
    </p:spTree>
    <p:extLst>
      <p:ext uri="{BB962C8B-B14F-4D97-AF65-F5344CB8AC3E}">
        <p14:creationId xmlns:p14="http://schemas.microsoft.com/office/powerpoint/2010/main" val="3290401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44E46-5A0C-A4D5-0ED9-EF5F5A3AE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087A3-9BC7-1185-8692-10B946032882}"/>
              </a:ext>
            </a:extLst>
          </p:cNvPr>
          <p:cNvSpPr>
            <a:spLocks noGrp="1"/>
          </p:cNvSpPr>
          <p:nvPr>
            <p:ph type="title"/>
          </p:nvPr>
        </p:nvSpPr>
        <p:spPr>
          <a:xfrm>
            <a:off x="574548" y="-355600"/>
            <a:ext cx="5521452" cy="1527048"/>
          </a:xfrm>
        </p:spPr>
        <p:txBody>
          <a:bodyPr anchor="b">
            <a:normAutofit/>
          </a:bodyPr>
          <a:lstStyle/>
          <a:p>
            <a:r>
              <a:rPr lang="en-US" dirty="0">
                <a:latin typeface="Arial" panose="020B0604020202020204" pitchFamily="34" charset="0"/>
                <a:cs typeface="Arial" panose="020B0604020202020204" pitchFamily="34" charset="0"/>
              </a:rPr>
              <a:t>Hypothesis Testing</a:t>
            </a:r>
          </a:p>
        </p:txBody>
      </p:sp>
      <p:sp>
        <p:nvSpPr>
          <p:cNvPr id="3" name="Content Placeholder 2">
            <a:extLst>
              <a:ext uri="{FF2B5EF4-FFF2-40B4-BE49-F238E27FC236}">
                <a16:creationId xmlns:a16="http://schemas.microsoft.com/office/drawing/2014/main" id="{72B0AE2D-4F90-CAA1-1E8C-3981CF920251}"/>
              </a:ext>
            </a:extLst>
          </p:cNvPr>
          <p:cNvSpPr>
            <a:spLocks noGrp="1"/>
          </p:cNvSpPr>
          <p:nvPr>
            <p:ph sz="quarter" idx="14"/>
          </p:nvPr>
        </p:nvSpPr>
        <p:spPr>
          <a:xfrm>
            <a:off x="701547" y="1616075"/>
            <a:ext cx="5521452" cy="4095750"/>
          </a:xfrm>
        </p:spPr>
        <p:txBody>
          <a:bodyPr>
            <a:noAutofit/>
          </a:bodyPr>
          <a:lstStyle/>
          <a:p>
            <a:pPr marL="0" indent="0">
              <a:buNone/>
            </a:pPr>
            <a:r>
              <a:rPr lang="en-US" b="1" dirty="0">
                <a:latin typeface="Arial" panose="020B0604020202020204" pitchFamily="34" charset="0"/>
                <a:cs typeface="Arial" panose="020B0604020202020204" pitchFamily="34" charset="0"/>
              </a:rPr>
              <a:t>Null Hypothesis: </a:t>
            </a:r>
            <a:r>
              <a:rPr lang="en-US" dirty="0">
                <a:latin typeface="Arial" panose="020B0604020202020204" pitchFamily="34" charset="0"/>
                <a:cs typeface="Arial" panose="020B0604020202020204" pitchFamily="34" charset="0"/>
              </a:rPr>
              <a:t>There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no difference in the fare amount and the trip distance.</a:t>
            </a:r>
          </a:p>
          <a:p>
            <a:pPr marL="0" indent="0">
              <a:buNone/>
            </a:pPr>
            <a:r>
              <a:rPr lang="en-US" b="1" dirty="0">
                <a:latin typeface="Arial" panose="020B0604020202020204" pitchFamily="34" charset="0"/>
                <a:cs typeface="Arial" panose="020B0604020202020204" pitchFamily="34" charset="0"/>
              </a:rPr>
              <a:t>Alternative Hypothesis: </a:t>
            </a:r>
            <a:r>
              <a:rPr lang="en-US" dirty="0">
                <a:latin typeface="Arial" panose="020B0604020202020204" pitchFamily="34" charset="0"/>
                <a:cs typeface="Arial" panose="020B0604020202020204" pitchFamily="34" charset="0"/>
              </a:rPr>
              <a:t>There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a difference in the fare amount and the trip distance.</a:t>
            </a:r>
          </a:p>
          <a:p>
            <a:pPr marL="0" lvl="0" indent="0" eaLnBrk="0" fontAlgn="base" hangingPunct="0">
              <a:lnSpc>
                <a:spcPct val="100000"/>
              </a:lnSpc>
              <a:spcBef>
                <a:spcPct val="0"/>
              </a:spcBef>
              <a:spcAft>
                <a:spcPct val="0"/>
              </a:spcAft>
              <a:buNone/>
            </a:pPr>
            <a:endParaRPr lang="en-US" altLang="en-US" dirty="0">
              <a:solidFill>
                <a:srgbClr val="000000"/>
              </a:solidFill>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solidFill>
                  <a:srgbClr val="000000"/>
                </a:solidFill>
                <a:latin typeface="Arial" panose="020B0604020202020204" pitchFamily="34" charset="0"/>
                <a:cs typeface="Arial" panose="020B0604020202020204" pitchFamily="34" charset="0"/>
              </a:rPr>
              <a:t>Based on the regression results (p-value = 0.000 &lt; 0.05), the null hypothesis is rejected.</a:t>
            </a:r>
            <a:br>
              <a:rPr lang="en-US" altLang="en-US" dirty="0">
                <a:latin typeface="Arial" panose="020B0604020202020204" pitchFamily="34" charset="0"/>
                <a:cs typeface="Arial" panose="020B0604020202020204" pitchFamily="34" charset="0"/>
              </a:rPr>
            </a:br>
            <a:r>
              <a:rPr lang="en-US" altLang="en-US" dirty="0">
                <a:solidFill>
                  <a:srgbClr val="000000"/>
                </a:solidFill>
                <a:latin typeface="Arial" panose="020B0604020202020204" pitchFamily="34" charset="0"/>
                <a:cs typeface="Arial" panose="020B0604020202020204" pitchFamily="34" charset="0"/>
              </a:rPr>
              <a:t>Therefore, it is concluded that </a:t>
            </a:r>
            <a:r>
              <a:rPr lang="en-US" altLang="en-US" b="1" dirty="0">
                <a:solidFill>
                  <a:srgbClr val="000000"/>
                </a:solidFill>
                <a:latin typeface="Arial" panose="020B0604020202020204" pitchFamily="34" charset="0"/>
                <a:cs typeface="Arial" panose="020B0604020202020204" pitchFamily="34" charset="0"/>
              </a:rPr>
              <a:t>trip distance has a statistically significant positive impact on fare amount. </a:t>
            </a:r>
          </a:p>
          <a:p>
            <a:pPr marL="0" lvl="0" indent="0" eaLnBrk="0" fontAlgn="base" hangingPunct="0">
              <a:lnSpc>
                <a:spcPct val="100000"/>
              </a:lnSpc>
              <a:spcBef>
                <a:spcPct val="0"/>
              </a:spcBef>
              <a:spcAft>
                <a:spcPct val="0"/>
              </a:spcAft>
              <a:buFontTx/>
              <a:buChar char="•"/>
            </a:pPr>
            <a:endParaRPr lang="en-US" altLang="en-US" b="1" dirty="0">
              <a:solidFill>
                <a:srgbClr val="000000"/>
              </a:solidFill>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solidFill>
                  <a:srgbClr val="000000"/>
                </a:solidFill>
                <a:latin typeface="Arial" panose="020B0604020202020204" pitchFamily="34" charset="0"/>
              </a:rPr>
              <a:t>In other words, </a:t>
            </a:r>
            <a:r>
              <a:rPr lang="en-US" altLang="en-US" b="1" dirty="0">
                <a:solidFill>
                  <a:srgbClr val="000000"/>
                </a:solidFill>
                <a:latin typeface="Arial" panose="020B0604020202020204" pitchFamily="34" charset="0"/>
              </a:rPr>
              <a:t>as trip distance increases, fare amount also increases</a:t>
            </a:r>
            <a:endParaRPr lang="en-US" altLang="en-US" b="1" dirty="0">
              <a:solidFill>
                <a:srgbClr val="0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515FC8A-D1F6-1952-F44C-98ACEBC394A1}"/>
              </a:ext>
            </a:extLst>
          </p:cNvPr>
          <p:cNvPicPr>
            <a:picLocks noChangeAspect="1"/>
          </p:cNvPicPr>
          <p:nvPr/>
        </p:nvPicPr>
        <p:blipFill>
          <a:blip r:embed="rId2"/>
          <a:srcRect l="12583" r="34542"/>
          <a:stretch>
            <a:fillRect/>
          </a:stretch>
        </p:blipFill>
        <p:spPr>
          <a:xfrm>
            <a:off x="6540500" y="10"/>
            <a:ext cx="5651500" cy="6857990"/>
          </a:xfrm>
          <a:prstGeom prst="rect">
            <a:avLst/>
          </a:prstGeom>
          <a:noFill/>
        </p:spPr>
      </p:pic>
    </p:spTree>
    <p:extLst>
      <p:ext uri="{BB962C8B-B14F-4D97-AF65-F5344CB8AC3E}">
        <p14:creationId xmlns:p14="http://schemas.microsoft.com/office/powerpoint/2010/main" val="3143385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9ADC0-FA8C-F7DA-684F-502141B84BC2}"/>
              </a:ext>
            </a:extLst>
          </p:cNvPr>
          <p:cNvSpPr>
            <a:spLocks noGrp="1"/>
          </p:cNvSpPr>
          <p:nvPr>
            <p:ph type="title"/>
          </p:nvPr>
        </p:nvSpPr>
        <p:spPr>
          <a:xfrm>
            <a:off x="372533" y="548639"/>
            <a:ext cx="4475512" cy="5719639"/>
          </a:xfrm>
        </p:spPr>
        <p:txBody>
          <a:bodyPr anchor="t">
            <a:normAutofit/>
          </a:bodyPr>
          <a:lstStyle/>
          <a:p>
            <a:r>
              <a:rPr lang="en-US" sz="3600" dirty="0">
                <a:latin typeface="Arial" panose="020B0604020202020204" pitchFamily="34" charset="0"/>
                <a:cs typeface="Arial" panose="020B0604020202020204" pitchFamily="34" charset="0"/>
              </a:rPr>
              <a:t>Recommendations</a:t>
            </a:r>
          </a:p>
        </p:txBody>
      </p:sp>
      <p:graphicFrame>
        <p:nvGraphicFramePr>
          <p:cNvPr id="5" name="Content Placeholder 2">
            <a:extLst>
              <a:ext uri="{FF2B5EF4-FFF2-40B4-BE49-F238E27FC236}">
                <a16:creationId xmlns:a16="http://schemas.microsoft.com/office/drawing/2014/main" id="{36AC0273-6159-21A7-713D-5C7B780BEE4F}"/>
              </a:ext>
            </a:extLst>
          </p:cNvPr>
          <p:cNvGraphicFramePr>
            <a:graphicFrameLocks noGrp="1"/>
          </p:cNvGraphicFramePr>
          <p:nvPr>
            <p:ph sz="quarter" idx="13"/>
            <p:extLst>
              <p:ext uri="{D42A27DB-BD31-4B8C-83A1-F6EECF244321}">
                <p14:modId xmlns:p14="http://schemas.microsoft.com/office/powerpoint/2010/main" val="1349799719"/>
              </p:ext>
            </p:extLst>
          </p:nvPr>
        </p:nvGraphicFramePr>
        <p:xfrm>
          <a:off x="5072332" y="549274"/>
          <a:ext cx="6262777" cy="5806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144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8B55-CA7A-3984-3171-A3081C88B9C9}"/>
              </a:ext>
            </a:extLst>
          </p:cNvPr>
          <p:cNvSpPr>
            <a:spLocks noGrp="1"/>
          </p:cNvSpPr>
          <p:nvPr>
            <p:ph type="ctrTitle"/>
          </p:nvPr>
        </p:nvSpPr>
        <p:spPr>
          <a:xfrm>
            <a:off x="1981200" y="1318302"/>
            <a:ext cx="8229600" cy="2621154"/>
          </a:xfrm>
        </p:spPr>
        <p:txBody>
          <a:bodyPr anchor="b">
            <a:normAutofit/>
          </a:bodyPr>
          <a:lstStyle/>
          <a:p>
            <a:r>
              <a:rPr lang="en-US"/>
              <a:t>Thank you</a:t>
            </a:r>
          </a:p>
        </p:txBody>
      </p:sp>
    </p:spTree>
    <p:extLst>
      <p:ext uri="{BB962C8B-B14F-4D97-AF65-F5344CB8AC3E}">
        <p14:creationId xmlns:p14="http://schemas.microsoft.com/office/powerpoint/2010/main" val="1977980473"/>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docProps/app.xml><?xml version="1.0" encoding="utf-8"?>
<Properties xmlns="http://schemas.openxmlformats.org/officeDocument/2006/extended-properties" xmlns:vt="http://schemas.openxmlformats.org/officeDocument/2006/docPropsVTypes">
  <TotalTime>2206</TotalTime>
  <Words>824</Words>
  <Application>Microsoft Macintosh PowerPoint</Application>
  <PresentationFormat>Widescreen</PresentationFormat>
  <Paragraphs>73</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Neue Haas Grotesk Text Pro</vt:lpstr>
      <vt:lpstr>Helena</vt:lpstr>
      <vt:lpstr>Maximizing Revenue For Drivers- Payment Type</vt:lpstr>
      <vt:lpstr>Agenda</vt:lpstr>
      <vt:lpstr>Problem Statement</vt:lpstr>
      <vt:lpstr>Objective</vt:lpstr>
      <vt:lpstr>Research Question</vt:lpstr>
      <vt:lpstr>Data Overview</vt:lpstr>
      <vt:lpstr>Methodology</vt:lpstr>
      <vt:lpstr>Journey Insight</vt:lpstr>
      <vt:lpstr>Journey Insight</vt:lpstr>
      <vt:lpstr>Passenger count analysis </vt:lpstr>
      <vt:lpstr> Is there a relationship between total trip duration and fare amount? </vt:lpstr>
      <vt:lpstr>Hypothesis Testing</vt:lpstr>
      <vt:lpstr>Is there a relationship between total fare amount and payment type? </vt:lpstr>
      <vt:lpstr>Hypothesis Testing</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jagriti verma</dc:creator>
  <cp:lastModifiedBy>jagriti verma</cp:lastModifiedBy>
  <cp:revision>13</cp:revision>
  <dcterms:created xsi:type="dcterms:W3CDTF">2025-11-03T06:25:28Z</dcterms:created>
  <dcterms:modified xsi:type="dcterms:W3CDTF">2025-11-07T17:57:08Z</dcterms:modified>
</cp:coreProperties>
</file>